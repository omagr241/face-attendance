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Om Agrawal, and I'm excited to introduce FaceAttend. This project is all about bringing a modern, efficient solution to a very old problem: attendance tracking. We're moving beyond traditional methods to something truly revolutionary. FaceAttend is designed to make attendance seamless and secure, leveraging the power of face recognition. It's a next-gen system that will change how we think about campus attendance. Let's dive into the core problem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the big deal with current attendance systems? Well, they're incredibly inefficient. We're talking about 10 to 15 minutes wasted per class, every single day, just on roll calls. This isn't just a minor inconvenience; it's a massive cumulative loss of instructional time. Beyond efficiency, there's a huge integrity issue. Proxy attendance is rampant, and paper records offer no real proof. This leads to unreliable data, administrative headaches, and a lot of manual effort. It's clear we need a better way, and that's where FaceAttend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FaceAttend offers a seamless, secure, and automated solution to these problems. Imagine students simply walking into a classroom, and their attendance is marked automatically. No stopping, no signing, just real-time detection and encoding at 15 frames per second. We provide instant database updates with photographic proof and even a voice alert saying, "{Name}, Present." This transforms attendance from a manual chore into a high-integrity background process. It's about zero friction and absolute proof, and I'll show you how we achieve this with our high-performance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packed with high-performance features, engineered for excellence. We've got real-time detection, processing live camera streams at 15 frames per second using optimized HOG models. This ensures smooth, instant recognition. We also include smart audio, with integrated Text-to-Speech announcing student names, and crucial proof-of-presence through automated snapshots. This eliminates any proxy disputes. Plus, we offer dynamic analytics and seamless export options for all administrative needs. These features are built on a robust foundation, which I'll explain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deliver these features, we've built FaceAttend on a modern, scalable foundation. Our frontend uses React 19, Vite, and Tailwind CSS for a responsive and fast user interface. On the backend, we're leveraging Python 3 with Flask for our REST API and OpenCV for robust vision processing. For the core recognition, we use dlib's face_recognition library, which is highly accurate. All our data, including face encodings and attendance logs, is stored reliably in SQLite. This tech stack ensures a powerful and efficient system. Now, let's look at how this all comes together in our recognition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the underlying technologies, let's dive into how FaceAttend actually processes a face. This recognition pipeline is the core engine that turns a live video feed into an attendance record. We start by capturing high-speed frames from the camera at 15 frames per second. Then, we use a HOG-based model to detect and localize faces within each frame. Once a face is found, we generate a unique 128-dimensional encoding for it. This encoding is then compared against our database of student encodings, and if a match is found with a distance less than 0.5, we log the attendance, show a green bounding box, and provide voice confirmation. This entire process is designed for speed and accuracy, which brings us to a critical architectural decision we made to ensure smooth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with real-time face recognition is its computational intensity, which can cause video streams to freeze. So, we developed a two-thread architecture to eliminate this latency and ensure a smooth user experience. Our capture thread handles all the visual aspects, reading frames from the camera and rendering the UI at a consistent 15 frames per second. This ensures a smooth, uninterrupted video stream for the user. Meanwhile, a separate recognition thread asynchronously performs the heavy lifting: face detection, encoding, and matching. These two threads communicate safely, allowing us to maintain a high frame rate for the display while still processing recognition in the background. This separation of concerns is key to FaceAttend's responsiveness, and it's something you'll see in action with our live attendance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rubber meets the road—the live attendance experience. We've designed this interface to be intuitive and informative, providing immediate feedback to students and administrators. You'll see clear visual cues: green for new attendance, orange if someone is already marked, and red for an unknown face. We also include smart audio feedback, with integrated text-to-speech announcing student names upon recognition. There's a real-time event log that scrolls with timestamps and confidence scores, giving a transparent view of who's being recognized. This entire interface is optimized for kiosk mode, making it perfect for dedicated classroom displays. And all this real-time data feeds directly into our next feature, the admin intelligence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Intelligence Dashboard is where all that real-time attendance data transforms into actionable insights. We provide key metrics at a glance, like total students, today's attendance percentage, and average monthly rates. You'll find visual analytics, including interactive line graphs and bar charts, to easily track daily attendance trends. We also offer departmental insights, breaking down attendance rates by section and branch. And for administrative convenience, there's a one-click option to export professional, styled Excel reports. This dashboard empowers administrators to understand and manage attendance effectively, and it's all built on a robust student and database management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we've seen how the dashboard provides insights, let's talk about the backbone: how we manage student data. This system ensures every student's profile is robust and accurate from day one. We capture multiple face photos during registration, typically 3 to 10, to build a highly reliable recognition profile. This multi-photo approach significantly improves accuracy and reduces false negatives. Our database schema is designed for relational integrity, preventing duplicate attendance marks and ensuring data consistency. We've structured it for easy migration to PostgreSQL, anticipating growth for larger institutions. This robust management system is crucial for maintaining the integrity of the entire attendance process. Now, let's look at how we secure this data and what's next for FaceAttend.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we've covered data management, let's discuss how we protect that data and where we're headed. Security is paramount, and we've implemented several layers to safeguard our system. We use bcrypt for hashing admin passwords, ensuring even if our database is compromised, credentials remain secure. All API requests are protected with UUID token-based authentication, preventing unauthorized access. Looking ahead, our roadmap includes exciting advancements like liveness detection to prevent spoofing attacks. We're also planning a multi-role system for different user types and cloud integration for multi-campus scalability. This forward-thinking approach ensures FaceAttend remains secure and adaptable. With that, I'd like to thank you all for your time and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a lot today, from the core problem to our technical solutions and future vision. I want to express my gratitude for your time and engagement. My name is Om Agrawal, and this project, FaceAttend, represents a significant step forward in attendance management. You can find the full source code on GitHub, and I'm always open to discussing the technical details further. I'm ready to answer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slideLayout" Target="../slideLayouts/slideLayout1.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7144"/>
            <a:ext cx="9144000" cy="5143500"/>
          </a:xfrm>
          <a:prstGeom prst="rect">
            <a:avLst/>
          </a:prstGeom>
        </p:spPr>
      </p:pic>
      <p:sp>
        <p:nvSpPr>
          <p:cNvPr id="4" name="Shape 0"/>
          <p:cNvSpPr/>
          <p:nvPr/>
        </p:nvSpPr>
        <p:spPr>
          <a:xfrm>
            <a:off x="1744861" y="1626989"/>
            <a:ext cx="5654278" cy="1875234"/>
          </a:xfrm>
          <a:prstGeom prst="rect">
            <a:avLst/>
          </a:prstGeom>
          <a:solidFill>
            <a:srgbClr val="FFFFFF">
              <a:alpha val="3000"/>
            </a:srgbClr>
          </a:solidFill>
          <a:ln w="9144">
            <a:solidFill>
              <a:srgbClr val="FFFFFF">
                <a:alpha val="10000"/>
              </a:srgbClr>
            </a:solidFill>
            <a:prstDash val="solid"/>
          </a:ln>
        </p:spPr>
      </p:sp>
      <p:sp>
        <p:nvSpPr>
          <p:cNvPr id="5" name="Text 1"/>
          <p:cNvSpPr/>
          <p:nvPr/>
        </p:nvSpPr>
        <p:spPr>
          <a:xfrm>
            <a:off x="2323505" y="1991320"/>
            <a:ext cx="4496991" cy="189309"/>
          </a:xfrm>
          <a:prstGeom prst="rect">
            <a:avLst/>
          </a:prstGeom>
          <a:noFill/>
          <a:ln/>
        </p:spPr>
        <p:txBody>
          <a:bodyPr wrap="square" lIns="0" tIns="0" rIns="0" bIns="0" rtlCol="0" anchor="t">
            <a:spAutoFit/>
          </a:bodyPr>
          <a:lstStyle/>
          <a:p>
            <a:pPr algn="ctr" indent="0" marL="0">
              <a:buNone/>
            </a:pPr>
            <a:r>
              <a:rPr lang="en-US" sz="1100" b="1" spc="3" kern="0" dirty="0">
                <a:solidFill>
                  <a:srgbClr val="FF5722"/>
                </a:solidFill>
                <a:latin typeface="Inter ExtraBold" pitchFamily="34" charset="0"/>
                <a:ea typeface="Inter ExtraBold" pitchFamily="34" charset="-122"/>
                <a:cs typeface="Inter ExtraBold" pitchFamily="34" charset="-120"/>
              </a:rPr>
              <a:t>COLLEGE PROJECT 2026</a:t>
            </a:r>
            <a:endParaRPr lang="en-US" sz="1100" dirty="0"/>
          </a:p>
        </p:txBody>
      </p:sp>
      <p:sp>
        <p:nvSpPr>
          <p:cNvPr id="6" name="Text 2"/>
          <p:cNvSpPr/>
          <p:nvPr/>
        </p:nvSpPr>
        <p:spPr>
          <a:xfrm>
            <a:off x="2323505" y="2287786"/>
            <a:ext cx="4496991" cy="642938"/>
          </a:xfrm>
          <a:prstGeom prst="rect">
            <a:avLst/>
          </a:prstGeom>
          <a:noFill/>
          <a:ln/>
        </p:spPr>
        <p:txBody>
          <a:bodyPr wrap="none" lIns="0" tIns="0" rIns="0" bIns="0" rtlCol="0" anchor="t">
            <a:spAutoFit/>
          </a:bodyPr>
          <a:lstStyle/>
          <a:p>
            <a:pPr algn="ctr" indent="0" marL="0">
              <a:lnSpc>
                <a:spcPct val="80000"/>
              </a:lnSpc>
              <a:buNone/>
            </a:pPr>
            <a:r>
              <a:rPr lang="en-US" sz="4650" b="1" dirty="0">
                <a:solidFill>
                  <a:srgbClr val="FF5722"/>
                </a:solidFill>
                <a:latin typeface="Inter ExtraBold" pitchFamily="34" charset="0"/>
                <a:ea typeface="Inter ExtraBold" pitchFamily="34" charset="-122"/>
                <a:cs typeface="Inter ExtraBold" pitchFamily="34" charset="-120"/>
              </a:rPr>
              <a:t>FaceAttend</a:t>
            </a:r>
            <a:endParaRPr lang="en-US" sz="4650" dirty="0"/>
          </a:p>
        </p:txBody>
      </p:sp>
      <p:sp>
        <p:nvSpPr>
          <p:cNvPr id="7" name="Text 3"/>
          <p:cNvSpPr/>
          <p:nvPr/>
        </p:nvSpPr>
        <p:spPr>
          <a:xfrm>
            <a:off x="2323505" y="3037880"/>
            <a:ext cx="4496991" cy="242888"/>
          </a:xfrm>
          <a:prstGeom prst="rect">
            <a:avLst/>
          </a:prstGeom>
          <a:noFill/>
          <a:ln/>
        </p:spPr>
        <p:txBody>
          <a:bodyPr wrap="square" lIns="0" tIns="0" rIns="0" bIns="0" rtlCol="0" anchor="t">
            <a:spAutoFit/>
          </a:bodyPr>
          <a:lstStyle/>
          <a:p>
            <a:pPr algn="ctr" indent="0" marL="0">
              <a:buNone/>
            </a:pPr>
            <a:r>
              <a:rPr lang="en-US" sz="1500" dirty="0">
                <a:solidFill>
                  <a:srgbClr val="D1D5DB"/>
                </a:solidFill>
                <a:latin typeface="Inter" pitchFamily="34" charset="0"/>
                <a:ea typeface="Inter" pitchFamily="34" charset="-122"/>
                <a:cs typeface="Inter" pitchFamily="34" charset="-120"/>
              </a:rPr>
              <a:t>Next-Gen Face Recognition Attendance System</a:t>
            </a:r>
            <a:endParaRPr lang="en-US" sz="1500" dirty="0"/>
          </a:p>
        </p:txBody>
      </p:sp>
      <p:pic>
        <p:nvPicPr>
          <p:cNvPr id="8" name="Image 1" descr="preencoded.png">    </p:cNvPr>
          <p:cNvPicPr>
            <a:picLocks noChangeAspect="1"/>
          </p:cNvPicPr>
          <p:nvPr/>
        </p:nvPicPr>
        <p:blipFill>
          <a:blip r:embed="rId2"/>
          <a:stretch>
            <a:fillRect/>
          </a:stretch>
        </p:blipFill>
        <p:spPr>
          <a:xfrm>
            <a:off x="2312789" y="4409480"/>
            <a:ext cx="142875" cy="114300"/>
          </a:xfrm>
          <a:prstGeom prst="rect">
            <a:avLst/>
          </a:prstGeom>
        </p:spPr>
      </p:pic>
      <p:sp>
        <p:nvSpPr>
          <p:cNvPr id="9" name="Text 4"/>
          <p:cNvSpPr/>
          <p:nvPr/>
        </p:nvSpPr>
        <p:spPr>
          <a:xfrm>
            <a:off x="2541389" y="4380905"/>
            <a:ext cx="1057275"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Om Agrawal</a:t>
            </a:r>
            <a:endParaRPr lang="en-US" sz="850" dirty="0"/>
          </a:p>
        </p:txBody>
      </p:sp>
      <p:sp>
        <p:nvSpPr>
          <p:cNvPr id="10" name="Text 5"/>
          <p:cNvSpPr/>
          <p:nvPr/>
        </p:nvSpPr>
        <p:spPr>
          <a:xfrm>
            <a:off x="3812977" y="4380905"/>
            <a:ext cx="1057275"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Sumuk N</a:t>
            </a:r>
            <a:endParaRPr lang="en-US" sz="850" dirty="0"/>
          </a:p>
        </p:txBody>
      </p:sp>
      <p:sp>
        <p:nvSpPr>
          <p:cNvPr id="11" name="Text 6"/>
          <p:cNvSpPr/>
          <p:nvPr/>
        </p:nvSpPr>
        <p:spPr>
          <a:xfrm>
            <a:off x="2541389" y="4546997"/>
            <a:ext cx="1057275"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Prajwal SJ</a:t>
            </a:r>
            <a:endParaRPr lang="en-US" sz="850" dirty="0"/>
          </a:p>
        </p:txBody>
      </p:sp>
      <p:sp>
        <p:nvSpPr>
          <p:cNvPr id="12" name="Text 7"/>
          <p:cNvSpPr/>
          <p:nvPr/>
        </p:nvSpPr>
        <p:spPr>
          <a:xfrm>
            <a:off x="3812977" y="4546997"/>
            <a:ext cx="1057275"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Mohammad Amaan</a:t>
            </a:r>
            <a:endParaRPr lang="en-US" sz="850" dirty="0"/>
          </a:p>
        </p:txBody>
      </p:sp>
      <p:sp>
        <p:nvSpPr>
          <p:cNvPr id="13" name="Text 8"/>
          <p:cNvSpPr/>
          <p:nvPr/>
        </p:nvSpPr>
        <p:spPr>
          <a:xfrm>
            <a:off x="2541389" y="4713089"/>
            <a:ext cx="1057275"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Krish Kumar</a:t>
            </a:r>
            <a:endParaRPr lang="en-US" sz="850" dirty="0"/>
          </a:p>
        </p:txBody>
      </p:sp>
      <p:sp>
        <p:nvSpPr>
          <p:cNvPr id="14" name="Text 9"/>
          <p:cNvSpPr/>
          <p:nvPr/>
        </p:nvSpPr>
        <p:spPr>
          <a:xfrm>
            <a:off x="3812977" y="4713089"/>
            <a:ext cx="1057275"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Nandu Mehtre</a:t>
            </a:r>
            <a:endParaRPr lang="en-US" sz="850" dirty="0"/>
          </a:p>
        </p:txBody>
      </p:sp>
      <p:pic>
        <p:nvPicPr>
          <p:cNvPr id="15" name="Image 2" descr="preencoded.png">    </p:cNvPr>
          <p:cNvPicPr>
            <a:picLocks noChangeAspect="1"/>
          </p:cNvPicPr>
          <p:nvPr/>
        </p:nvPicPr>
        <p:blipFill>
          <a:blip r:embed="rId3"/>
          <a:stretch>
            <a:fillRect/>
          </a:stretch>
        </p:blipFill>
        <p:spPr>
          <a:xfrm>
            <a:off x="5298877" y="4409480"/>
            <a:ext cx="142875" cy="114300"/>
          </a:xfrm>
          <a:prstGeom prst="rect">
            <a:avLst/>
          </a:prstGeom>
        </p:spPr>
      </p:pic>
      <p:sp>
        <p:nvSpPr>
          <p:cNvPr id="16" name="Text 10"/>
          <p:cNvSpPr/>
          <p:nvPr/>
        </p:nvSpPr>
        <p:spPr>
          <a:xfrm>
            <a:off x="5527477" y="4380905"/>
            <a:ext cx="1303734" cy="137517"/>
          </a:xfrm>
          <a:prstGeom prst="rect">
            <a:avLst/>
          </a:prstGeom>
          <a:noFill/>
          <a:ln/>
        </p:spPr>
        <p:txBody>
          <a:bodyPr wrap="square" lIns="0" tIns="0" rIns="0" bIns="0" rtlCol="0" anchor="t">
            <a:spAutoFit/>
          </a:bodyPr>
          <a:lstStyle/>
          <a:p>
            <a:pPr algn="l" indent="0" marL="0">
              <a:buNone/>
            </a:pPr>
            <a:r>
              <a:rPr lang="en-US" sz="850" dirty="0">
                <a:solidFill>
                  <a:srgbClr val="FFFFFF"/>
                </a:solidFill>
                <a:latin typeface="Inter" pitchFamily="34" charset="0"/>
                <a:ea typeface="Inter" pitchFamily="34" charset="-122"/>
                <a:cs typeface="Inter" pitchFamily="34" charset="-120"/>
              </a:rPr>
              <a:t>ECE &amp; AIML Department</a:t>
            </a:r>
            <a:endParaRPr lang="en-US" sz="850" dirty="0"/>
          </a:p>
        </p:txBody>
      </p:sp>
      <p:sp>
        <p:nvSpPr>
          <p:cNvPr id="17" name="Text 11"/>
          <p:cNvSpPr/>
          <p:nvPr/>
        </p:nvSpPr>
        <p:spPr>
          <a:xfrm>
            <a:off x="5527477" y="4546997"/>
            <a:ext cx="1303734" cy="137517"/>
          </a:xfrm>
          <a:prstGeom prst="rect">
            <a:avLst/>
          </a:prstGeom>
          <a:noFill/>
          <a:ln/>
        </p:spPr>
        <p:txBody>
          <a:bodyPr wrap="square" lIns="0" tIns="0" rIns="0" bIns="0" rtlCol="0" anchor="t">
            <a:spAutoFit/>
          </a:bodyPr>
          <a:lstStyle/>
          <a:p>
            <a:pPr algn="l" indent="0" marL="0">
              <a:buNone/>
            </a:pPr>
            <a:r>
              <a:rPr lang="en-US" sz="850" dirty="0">
                <a:solidFill>
                  <a:srgbClr val="9CA3AF"/>
                </a:solidFill>
                <a:latin typeface="Inter" pitchFamily="34" charset="0"/>
                <a:ea typeface="Inter" pitchFamily="34" charset="-122"/>
                <a:cs typeface="Inter" pitchFamily="34" charset="-120"/>
              </a:rPr>
              <a:t>PBL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The Critical Problem</a:t>
            </a:r>
            <a:endParaRPr lang="en-US" sz="3300" dirty="0"/>
          </a:p>
        </p:txBody>
      </p:sp>
      <p:sp>
        <p:nvSpPr>
          <p:cNvPr id="5" name="Shape 1"/>
          <p:cNvSpPr/>
          <p:nvPr/>
        </p:nvSpPr>
        <p:spPr>
          <a:xfrm>
            <a:off x="571500" y="1582341"/>
            <a:ext cx="2476509" cy="3334345"/>
          </a:xfrm>
          <a:prstGeom prst="rect">
            <a:avLst/>
          </a:prstGeom>
          <a:solidFill>
            <a:srgbClr val="FFFFFF">
              <a:alpha val="3000"/>
            </a:srgbClr>
          </a:solidFill>
          <a:ln w="9144">
            <a:solidFill>
              <a:srgbClr val="FFFFFF">
                <a:alpha val="10000"/>
              </a:srgbClr>
            </a:solidFill>
            <a:prstDash val="solid"/>
          </a:ln>
        </p:spPr>
      </p:sp>
      <p:sp>
        <p:nvSpPr>
          <p:cNvPr id="6" name="Shape 2"/>
          <p:cNvSpPr/>
          <p:nvPr/>
        </p:nvSpPr>
        <p:spPr>
          <a:xfrm>
            <a:off x="857250" y="1868091"/>
            <a:ext cx="442913" cy="442913"/>
          </a:xfrm>
          <a:prstGeom prst="rect">
            <a:avLst/>
          </a:prstGeom>
          <a:solidFill>
            <a:srgbClr val="FF5722">
              <a:alpha val="10000"/>
            </a:srgbClr>
          </a:solidFill>
          <a:ln w="9144">
            <a:solidFill>
              <a:srgbClr val="FF5722"/>
            </a:solidFill>
            <a:prstDash val="solid"/>
          </a:ln>
        </p:spPr>
      </p:sp>
      <p:pic>
        <p:nvPicPr>
          <p:cNvPr id="7" name="Image 1" descr="preencoded.png">    </p:cNvPr>
          <p:cNvPicPr>
            <a:picLocks noChangeAspect="1"/>
          </p:cNvPicPr>
          <p:nvPr/>
        </p:nvPicPr>
        <p:blipFill>
          <a:blip r:embed="rId2"/>
          <a:stretch>
            <a:fillRect/>
          </a:stretch>
        </p:blipFill>
        <p:spPr>
          <a:xfrm>
            <a:off x="985838" y="1996678"/>
            <a:ext cx="171450" cy="171450"/>
          </a:xfrm>
          <a:prstGeom prst="rect">
            <a:avLst/>
          </a:prstGeom>
        </p:spPr>
      </p:pic>
      <p:sp>
        <p:nvSpPr>
          <p:cNvPr id="8" name="Text 3"/>
          <p:cNvSpPr/>
          <p:nvPr/>
        </p:nvSpPr>
        <p:spPr>
          <a:xfrm>
            <a:off x="857250" y="2511028"/>
            <a:ext cx="1895466" cy="276820"/>
          </a:xfrm>
          <a:prstGeom prst="rect">
            <a:avLst/>
          </a:prstGeom>
          <a:noFill/>
          <a:ln/>
        </p:spPr>
        <p:txBody>
          <a:bodyPr wrap="square" lIns="0" tIns="0" rIns="0" bIns="0" rtlCol="0" anchor="t">
            <a:spAutoFit/>
          </a:bodyPr>
          <a:lstStyle/>
          <a:p>
            <a:pPr algn="l" indent="0" marL="0">
              <a:buNone/>
            </a:pPr>
            <a:r>
              <a:rPr lang="en-US" sz="1600" b="1" dirty="0">
                <a:solidFill>
                  <a:srgbClr val="FF5722"/>
                </a:solidFill>
                <a:latin typeface="Inter ExtraBold" pitchFamily="34" charset="0"/>
                <a:ea typeface="Inter ExtraBold" pitchFamily="34" charset="-122"/>
                <a:cs typeface="Inter ExtraBold" pitchFamily="34" charset="-120"/>
              </a:rPr>
              <a:t>Inefficiency</a:t>
            </a:r>
            <a:endParaRPr lang="en-US" sz="1600" dirty="0"/>
          </a:p>
        </p:txBody>
      </p:sp>
      <p:pic>
        <p:nvPicPr>
          <p:cNvPr id="9" name="Image 2" descr="preencoded.png">    </p:cNvPr>
          <p:cNvPicPr>
            <a:picLocks noChangeAspect="1"/>
          </p:cNvPicPr>
          <p:nvPr/>
        </p:nvPicPr>
        <p:blipFill>
          <a:blip r:embed="rId3"/>
          <a:stretch>
            <a:fillRect/>
          </a:stretch>
        </p:blipFill>
        <p:spPr>
          <a:xfrm>
            <a:off x="1143000" y="2930723"/>
            <a:ext cx="142875" cy="178594"/>
          </a:xfrm>
          <a:prstGeom prst="rect">
            <a:avLst/>
          </a:prstGeom>
        </p:spPr>
      </p:pic>
      <p:sp>
        <p:nvSpPr>
          <p:cNvPr id="10" name="Text 4"/>
          <p:cNvSpPr/>
          <p:nvPr/>
        </p:nvSpPr>
        <p:spPr>
          <a:xfrm>
            <a:off x="1393031" y="2930723"/>
            <a:ext cx="1359684" cy="80010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D1D5DB"/>
                </a:solidFill>
                <a:latin typeface="Inter" pitchFamily="34" charset="0"/>
                <a:ea typeface="Inter" pitchFamily="34" charset="-122"/>
                <a:cs typeface="Inter" pitchFamily="34" charset="-120"/>
              </a:rPr>
              <a:t>Manual roll calls </a:t>
            </a:r>
            <a:r>
              <a:rPr lang="en-US" sz="1050" dirty="0">
                <a:solidFill>
                  <a:srgbClr val="D1D5DB"/>
                </a:solidFill>
                <a:latin typeface="Inter" pitchFamily="34" charset="0"/>
                <a:ea typeface="Inter" pitchFamily="34" charset="-122"/>
                <a:cs typeface="Inter" pitchFamily="34" charset="-120"/>
              </a:rPr>
              <a:t>waste </a:t>
            </a:r>
            <a:r>
              <a:rPr lang="en-US" sz="1000" b="1" dirty="0">
                <a:solidFill>
                  <a:srgbClr val="FFFFFF"/>
                </a:solidFill>
                <a:latin typeface="Inter ExtraBold" pitchFamily="34" charset="0"/>
                <a:ea typeface="Inter ExtraBold" pitchFamily="34" charset="-122"/>
                <a:cs typeface="Inter ExtraBold" pitchFamily="34" charset="-120"/>
              </a:rPr>
              <a:t>10-15 </a:t>
            </a:r>
            <a:r>
              <a:rPr lang="en-US" sz="1000" b="1" dirty="0">
                <a:solidFill>
                  <a:srgbClr val="FFFFFF"/>
                </a:solidFill>
                <a:latin typeface="Inter ExtraBold" pitchFamily="34" charset="0"/>
                <a:ea typeface="Inter ExtraBold" pitchFamily="34" charset="-122"/>
                <a:cs typeface="Inter ExtraBold" pitchFamily="34" charset="-120"/>
              </a:rPr>
              <a:t>minutes</a:t>
            </a:r>
            <a:r>
              <a:rPr lang="en-US" sz="1050" dirty="0">
                <a:solidFill>
                  <a:srgbClr val="D1D5DB"/>
                </a:solidFill>
                <a:latin typeface="Inter" pitchFamily="34" charset="0"/>
                <a:ea typeface="Inter" pitchFamily="34" charset="-122"/>
                <a:cs typeface="Inter" pitchFamily="34" charset="-120"/>
              </a:rPr>
              <a:t> per class </a:t>
            </a:r>
            <a:r>
              <a:rPr lang="en-US" sz="1050" dirty="0">
                <a:solidFill>
                  <a:srgbClr val="D1D5DB"/>
                </a:solidFill>
                <a:latin typeface="Inter" pitchFamily="34" charset="0"/>
                <a:ea typeface="Inter" pitchFamily="34" charset="-122"/>
                <a:cs typeface="Inter" pitchFamily="34" charset="-120"/>
              </a:rPr>
              <a:t>daily.</a:t>
            </a:r>
            <a:endParaRPr lang="en-US" sz="1050" dirty="0"/>
          </a:p>
        </p:txBody>
      </p:sp>
      <p:pic>
        <p:nvPicPr>
          <p:cNvPr id="11" name="Image 3" descr="preencoded.png">    </p:cNvPr>
          <p:cNvPicPr>
            <a:picLocks noChangeAspect="1"/>
          </p:cNvPicPr>
          <p:nvPr/>
        </p:nvPicPr>
        <p:blipFill>
          <a:blip r:embed="rId4"/>
          <a:stretch>
            <a:fillRect/>
          </a:stretch>
        </p:blipFill>
        <p:spPr>
          <a:xfrm>
            <a:off x="1143000" y="3909417"/>
            <a:ext cx="142875" cy="178594"/>
          </a:xfrm>
          <a:prstGeom prst="rect">
            <a:avLst/>
          </a:prstGeom>
        </p:spPr>
      </p:pic>
      <p:sp>
        <p:nvSpPr>
          <p:cNvPr id="12" name="Text 5"/>
          <p:cNvSpPr/>
          <p:nvPr/>
        </p:nvSpPr>
        <p:spPr>
          <a:xfrm>
            <a:off x="1393031" y="3909417"/>
            <a:ext cx="1359684" cy="80010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D1D5DB"/>
                </a:solidFill>
                <a:latin typeface="Inter" pitchFamily="34" charset="0"/>
                <a:ea typeface="Inter" pitchFamily="34" charset="-122"/>
                <a:cs typeface="Inter" pitchFamily="34" charset="-120"/>
              </a:rPr>
              <a:t>Cumulative loss of instructional time across semesters is massive.</a:t>
            </a:r>
            <a:endParaRPr lang="en-US" sz="1050" dirty="0"/>
          </a:p>
        </p:txBody>
      </p:sp>
      <p:sp>
        <p:nvSpPr>
          <p:cNvPr id="13" name="Shape 6"/>
          <p:cNvSpPr/>
          <p:nvPr/>
        </p:nvSpPr>
        <p:spPr>
          <a:xfrm>
            <a:off x="3324216" y="1582341"/>
            <a:ext cx="2481253" cy="3334345"/>
          </a:xfrm>
          <a:prstGeom prst="rect">
            <a:avLst/>
          </a:prstGeom>
          <a:solidFill>
            <a:srgbClr val="FFFFFF">
              <a:alpha val="3000"/>
            </a:srgbClr>
          </a:solidFill>
          <a:ln w="9144">
            <a:solidFill>
              <a:srgbClr val="FFFFFF">
                <a:alpha val="10000"/>
              </a:srgbClr>
            </a:solidFill>
            <a:prstDash val="solid"/>
          </a:ln>
        </p:spPr>
      </p:sp>
      <p:sp>
        <p:nvSpPr>
          <p:cNvPr id="14" name="Shape 7"/>
          <p:cNvSpPr/>
          <p:nvPr/>
        </p:nvSpPr>
        <p:spPr>
          <a:xfrm>
            <a:off x="3614738" y="1868091"/>
            <a:ext cx="442913" cy="442913"/>
          </a:xfrm>
          <a:prstGeom prst="rect">
            <a:avLst/>
          </a:prstGeom>
          <a:solidFill>
            <a:srgbClr val="FF5722">
              <a:alpha val="10000"/>
            </a:srgbClr>
          </a:solidFill>
          <a:ln w="9144">
            <a:solidFill>
              <a:srgbClr val="FF5722"/>
            </a:solidFill>
            <a:prstDash val="solid"/>
          </a:ln>
        </p:spPr>
      </p:sp>
      <p:pic>
        <p:nvPicPr>
          <p:cNvPr id="15" name="Image 4" descr="preencoded.png">    </p:cNvPr>
          <p:cNvPicPr>
            <a:picLocks noChangeAspect="1"/>
          </p:cNvPicPr>
          <p:nvPr/>
        </p:nvPicPr>
        <p:blipFill>
          <a:blip r:embed="rId5"/>
          <a:stretch>
            <a:fillRect/>
          </a:stretch>
        </p:blipFill>
        <p:spPr>
          <a:xfrm>
            <a:off x="3721894" y="1996678"/>
            <a:ext cx="214313" cy="171450"/>
          </a:xfrm>
          <a:prstGeom prst="rect">
            <a:avLst/>
          </a:prstGeom>
        </p:spPr>
      </p:pic>
      <p:sp>
        <p:nvSpPr>
          <p:cNvPr id="16" name="Text 8"/>
          <p:cNvSpPr/>
          <p:nvPr/>
        </p:nvSpPr>
        <p:spPr>
          <a:xfrm>
            <a:off x="3614738" y="2511028"/>
            <a:ext cx="1900238" cy="276820"/>
          </a:xfrm>
          <a:prstGeom prst="rect">
            <a:avLst/>
          </a:prstGeom>
          <a:noFill/>
          <a:ln/>
        </p:spPr>
        <p:txBody>
          <a:bodyPr wrap="square" lIns="0" tIns="0" rIns="0" bIns="0" rtlCol="0" anchor="t">
            <a:spAutoFit/>
          </a:bodyPr>
          <a:lstStyle/>
          <a:p>
            <a:pPr algn="l" indent="0" marL="0">
              <a:buNone/>
            </a:pPr>
            <a:r>
              <a:rPr lang="en-US" sz="1600" b="1" dirty="0">
                <a:solidFill>
                  <a:srgbClr val="FF5722"/>
                </a:solidFill>
                <a:latin typeface="Inter ExtraBold" pitchFamily="34" charset="0"/>
                <a:ea typeface="Inter ExtraBold" pitchFamily="34" charset="-122"/>
                <a:cs typeface="Inter ExtraBold" pitchFamily="34" charset="-120"/>
              </a:rPr>
              <a:t>Lack of Integrity</a:t>
            </a:r>
            <a:endParaRPr lang="en-US" sz="1600" dirty="0"/>
          </a:p>
        </p:txBody>
      </p:sp>
      <p:pic>
        <p:nvPicPr>
          <p:cNvPr id="17" name="Image 5" descr="preencoded.png">    </p:cNvPr>
          <p:cNvPicPr>
            <a:picLocks noChangeAspect="1"/>
          </p:cNvPicPr>
          <p:nvPr/>
        </p:nvPicPr>
        <p:blipFill>
          <a:blip r:embed="rId6"/>
          <a:stretch>
            <a:fillRect/>
          </a:stretch>
        </p:blipFill>
        <p:spPr>
          <a:xfrm>
            <a:off x="3900488" y="2930723"/>
            <a:ext cx="142875" cy="178594"/>
          </a:xfrm>
          <a:prstGeom prst="rect">
            <a:avLst/>
          </a:prstGeom>
        </p:spPr>
      </p:pic>
      <p:sp>
        <p:nvSpPr>
          <p:cNvPr id="18" name="Text 9"/>
          <p:cNvSpPr/>
          <p:nvPr/>
        </p:nvSpPr>
        <p:spPr>
          <a:xfrm>
            <a:off x="4150519" y="2930723"/>
            <a:ext cx="1364456" cy="800100"/>
          </a:xfrm>
          <a:prstGeom prst="rect">
            <a:avLst/>
          </a:prstGeom>
          <a:noFill/>
          <a:ln/>
        </p:spPr>
        <p:txBody>
          <a:bodyPr wrap="square" lIns="0" tIns="0" rIns="0" bIns="0" rtlCol="0" anchor="t">
            <a:spAutoFit/>
          </a:bodyPr>
          <a:lstStyle/>
          <a:p>
            <a:pPr algn="l" indent="0" marL="0">
              <a:lnSpc>
                <a:spcPct val="112000"/>
              </a:lnSpc>
              <a:buNone/>
            </a:pPr>
            <a:r>
              <a:rPr lang="en-US" sz="1000" b="1" dirty="0">
                <a:solidFill>
                  <a:srgbClr val="FFFFFF"/>
                </a:solidFill>
                <a:latin typeface="Inter ExtraBold" pitchFamily="34" charset="0"/>
                <a:ea typeface="Inter ExtraBold" pitchFamily="34" charset="-122"/>
                <a:cs typeface="Inter ExtraBold" pitchFamily="34" charset="-120"/>
              </a:rPr>
              <a:t>Proxy attendance</a:t>
            </a:r>
            <a:r>
              <a:rPr lang="en-US" sz="1050" dirty="0">
                <a:solidFill>
                  <a:srgbClr val="D1D5DB"/>
                </a:solidFill>
                <a:latin typeface="Inter" pitchFamily="34" charset="0"/>
                <a:ea typeface="Inter" pitchFamily="34" charset="-122"/>
                <a:cs typeface="Inter" pitchFamily="34" charset="-120"/>
              </a:rPr>
              <a:t> allows students to </a:t>
            </a:r>
            <a:r>
              <a:rPr lang="en-US" sz="1050" dirty="0">
                <a:solidFill>
                  <a:srgbClr val="D1D5DB"/>
                </a:solidFill>
                <a:latin typeface="Inter" pitchFamily="34" charset="0"/>
                <a:ea typeface="Inter" pitchFamily="34" charset="-122"/>
                <a:cs typeface="Inter" pitchFamily="34" charset="-120"/>
              </a:rPr>
              <a:t>mark for absent </a:t>
            </a:r>
            <a:r>
              <a:rPr lang="en-US" sz="1050" dirty="0">
                <a:solidFill>
                  <a:srgbClr val="D1D5DB"/>
                </a:solidFill>
                <a:latin typeface="Inter" pitchFamily="34" charset="0"/>
                <a:ea typeface="Inter" pitchFamily="34" charset="-122"/>
                <a:cs typeface="Inter" pitchFamily="34" charset="-120"/>
              </a:rPr>
              <a:t>friends.</a:t>
            </a:r>
            <a:endParaRPr lang="en-US" sz="1000" dirty="0"/>
          </a:p>
        </p:txBody>
      </p:sp>
      <p:pic>
        <p:nvPicPr>
          <p:cNvPr id="19" name="Image 6" descr="preencoded.png">    </p:cNvPr>
          <p:cNvPicPr>
            <a:picLocks noChangeAspect="1"/>
          </p:cNvPicPr>
          <p:nvPr/>
        </p:nvPicPr>
        <p:blipFill>
          <a:blip r:embed="rId7"/>
          <a:stretch>
            <a:fillRect/>
          </a:stretch>
        </p:blipFill>
        <p:spPr>
          <a:xfrm>
            <a:off x="3900488" y="3909417"/>
            <a:ext cx="142875" cy="178594"/>
          </a:xfrm>
          <a:prstGeom prst="rect">
            <a:avLst/>
          </a:prstGeom>
        </p:spPr>
      </p:pic>
      <p:sp>
        <p:nvSpPr>
          <p:cNvPr id="20" name="Text 10"/>
          <p:cNvSpPr/>
          <p:nvPr/>
        </p:nvSpPr>
        <p:spPr>
          <a:xfrm>
            <a:off x="4150519" y="3909417"/>
            <a:ext cx="1364456" cy="800100"/>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D1D5DB"/>
                </a:solidFill>
                <a:latin typeface="Inter" pitchFamily="34" charset="0"/>
                <a:ea typeface="Inter" pitchFamily="34" charset="-122"/>
                <a:cs typeface="Inter" pitchFamily="34" charset="-120"/>
              </a:rPr>
              <a:t>Paper records lack </a:t>
            </a:r>
            <a:r>
              <a:rPr lang="en-US" sz="1000" b="1" dirty="0">
                <a:solidFill>
                  <a:srgbClr val="FFFFFF"/>
                </a:solidFill>
                <a:latin typeface="Inter ExtraBold" pitchFamily="34" charset="0"/>
                <a:ea typeface="Inter ExtraBold" pitchFamily="34" charset="-122"/>
                <a:cs typeface="Inter ExtraBold" pitchFamily="34" charset="-120"/>
              </a:rPr>
              <a:t>photographic </a:t>
            </a:r>
            <a:r>
              <a:rPr lang="en-US" sz="1000" b="1" dirty="0">
                <a:solidFill>
                  <a:srgbClr val="FFFFFF"/>
                </a:solidFill>
                <a:latin typeface="Inter ExtraBold" pitchFamily="34" charset="0"/>
                <a:ea typeface="Inter ExtraBold" pitchFamily="34" charset="-122"/>
                <a:cs typeface="Inter ExtraBold" pitchFamily="34" charset="-120"/>
              </a:rPr>
              <a:t>proof</a:t>
            </a:r>
            <a:r>
              <a:rPr lang="en-US" sz="1050" dirty="0">
                <a:solidFill>
                  <a:srgbClr val="D1D5DB"/>
                </a:solidFill>
                <a:latin typeface="Inter" pitchFamily="34" charset="0"/>
                <a:ea typeface="Inter" pitchFamily="34" charset="-122"/>
                <a:cs typeface="Inter" pitchFamily="34" charset="-120"/>
              </a:rPr>
              <a:t> for </a:t>
            </a:r>
            <a:r>
              <a:rPr lang="en-US" sz="1050" dirty="0">
                <a:solidFill>
                  <a:srgbClr val="D1D5DB"/>
                </a:solidFill>
                <a:latin typeface="Inter" pitchFamily="34" charset="0"/>
                <a:ea typeface="Inter" pitchFamily="34" charset="-122"/>
                <a:cs typeface="Inter" pitchFamily="34" charset="-120"/>
              </a:rPr>
              <a:t>verification.</a:t>
            </a:r>
            <a:endParaRPr lang="en-US" sz="1050" dirty="0"/>
          </a:p>
        </p:txBody>
      </p:sp>
      <p:sp>
        <p:nvSpPr>
          <p:cNvPr id="21" name="Shape 11"/>
          <p:cNvSpPr/>
          <p:nvPr/>
        </p:nvSpPr>
        <p:spPr>
          <a:xfrm>
            <a:off x="6086475" y="1582341"/>
            <a:ext cx="2486025" cy="3334345"/>
          </a:xfrm>
          <a:prstGeom prst="rect">
            <a:avLst/>
          </a:prstGeom>
          <a:solidFill>
            <a:srgbClr val="FFFFFF">
              <a:alpha val="3000"/>
            </a:srgbClr>
          </a:solidFill>
          <a:ln w="9144">
            <a:solidFill>
              <a:srgbClr val="FFFFFF">
                <a:alpha val="10000"/>
              </a:srgbClr>
            </a:solidFill>
            <a:prstDash val="solid"/>
          </a:ln>
        </p:spPr>
      </p:sp>
      <p:sp>
        <p:nvSpPr>
          <p:cNvPr id="22" name="Shape 12"/>
          <p:cNvSpPr/>
          <p:nvPr/>
        </p:nvSpPr>
        <p:spPr>
          <a:xfrm>
            <a:off x="6381769" y="1868091"/>
            <a:ext cx="442913" cy="442913"/>
          </a:xfrm>
          <a:prstGeom prst="rect">
            <a:avLst/>
          </a:prstGeom>
          <a:solidFill>
            <a:srgbClr val="FF5722">
              <a:alpha val="10000"/>
            </a:srgbClr>
          </a:solidFill>
          <a:ln w="9144">
            <a:solidFill>
              <a:srgbClr val="FF5722"/>
            </a:solidFill>
            <a:prstDash val="solid"/>
          </a:ln>
        </p:spPr>
      </p:sp>
      <p:pic>
        <p:nvPicPr>
          <p:cNvPr id="23" name="Image 7" descr="preencoded.png">    </p:cNvPr>
          <p:cNvPicPr>
            <a:picLocks noChangeAspect="1"/>
          </p:cNvPicPr>
          <p:nvPr/>
        </p:nvPicPr>
        <p:blipFill>
          <a:blip r:embed="rId8"/>
          <a:stretch>
            <a:fillRect/>
          </a:stretch>
        </p:blipFill>
        <p:spPr>
          <a:xfrm>
            <a:off x="6510356" y="1996678"/>
            <a:ext cx="171450" cy="171450"/>
          </a:xfrm>
          <a:prstGeom prst="rect">
            <a:avLst/>
          </a:prstGeom>
        </p:spPr>
      </p:pic>
      <p:sp>
        <p:nvSpPr>
          <p:cNvPr id="24" name="Text 13"/>
          <p:cNvSpPr/>
          <p:nvPr/>
        </p:nvSpPr>
        <p:spPr>
          <a:xfrm>
            <a:off x="6381769" y="2511028"/>
            <a:ext cx="1905009" cy="276820"/>
          </a:xfrm>
          <a:prstGeom prst="rect">
            <a:avLst/>
          </a:prstGeom>
          <a:noFill/>
          <a:ln/>
        </p:spPr>
        <p:txBody>
          <a:bodyPr wrap="square" lIns="0" tIns="0" rIns="0" bIns="0" rtlCol="0" anchor="t">
            <a:spAutoFit/>
          </a:bodyPr>
          <a:lstStyle/>
          <a:p>
            <a:pPr algn="l" indent="0" marL="0">
              <a:buNone/>
            </a:pPr>
            <a:r>
              <a:rPr lang="en-US" sz="1600" b="1" dirty="0">
                <a:solidFill>
                  <a:srgbClr val="FF5722"/>
                </a:solidFill>
                <a:latin typeface="Inter ExtraBold" pitchFamily="34" charset="0"/>
                <a:ea typeface="Inter ExtraBold" pitchFamily="34" charset="-122"/>
                <a:cs typeface="Inter ExtraBold" pitchFamily="34" charset="-120"/>
              </a:rPr>
              <a:t>Data Errors</a:t>
            </a:r>
            <a:endParaRPr lang="en-US" sz="1600" dirty="0"/>
          </a:p>
        </p:txBody>
      </p:sp>
      <p:pic>
        <p:nvPicPr>
          <p:cNvPr id="25" name="Image 8" descr="preencoded.png">    </p:cNvPr>
          <p:cNvPicPr>
            <a:picLocks noChangeAspect="1"/>
          </p:cNvPicPr>
          <p:nvPr/>
        </p:nvPicPr>
        <p:blipFill>
          <a:blip r:embed="rId9"/>
          <a:stretch>
            <a:fillRect/>
          </a:stretch>
        </p:blipFill>
        <p:spPr>
          <a:xfrm>
            <a:off x="6667519" y="2930723"/>
            <a:ext cx="142875" cy="178594"/>
          </a:xfrm>
          <a:prstGeom prst="rect">
            <a:avLst/>
          </a:prstGeom>
        </p:spPr>
      </p:pic>
      <p:sp>
        <p:nvSpPr>
          <p:cNvPr id="26" name="Text 14"/>
          <p:cNvSpPr/>
          <p:nvPr/>
        </p:nvSpPr>
        <p:spPr>
          <a:xfrm>
            <a:off x="6917550" y="2930723"/>
            <a:ext cx="1369228" cy="600075"/>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D1D5DB"/>
                </a:solidFill>
                <a:latin typeface="Inter" pitchFamily="34" charset="0"/>
                <a:ea typeface="Inter" pitchFamily="34" charset="-122"/>
                <a:cs typeface="Inter" pitchFamily="34" charset="-120"/>
              </a:rPr>
              <a:t>Manual data entry </a:t>
            </a:r>
            <a:r>
              <a:rPr lang="en-US" sz="1050" dirty="0">
                <a:solidFill>
                  <a:srgbClr val="D1D5DB"/>
                </a:solidFill>
                <a:latin typeface="Inter" pitchFamily="34" charset="0"/>
                <a:ea typeface="Inter" pitchFamily="34" charset="-122"/>
                <a:cs typeface="Inter" pitchFamily="34" charset="-120"/>
              </a:rPr>
              <a:t>is </a:t>
            </a:r>
            <a:r>
              <a:rPr lang="en-US" sz="1000" b="1" dirty="0">
                <a:solidFill>
                  <a:srgbClr val="FFFFFF"/>
                </a:solidFill>
                <a:latin typeface="Inter ExtraBold" pitchFamily="34" charset="0"/>
                <a:ea typeface="Inter ExtraBold" pitchFamily="34" charset="-122"/>
                <a:cs typeface="Inter ExtraBold" pitchFamily="34" charset="-120"/>
              </a:rPr>
              <a:t>error-prone</a:t>
            </a:r>
            <a:r>
              <a:rPr lang="en-US" sz="1050" dirty="0">
                <a:solidFill>
                  <a:srgbClr val="D1D5DB"/>
                </a:solidFill>
                <a:latin typeface="Inter" pitchFamily="34" charset="0"/>
                <a:ea typeface="Inter" pitchFamily="34" charset="-122"/>
                <a:cs typeface="Inter" pitchFamily="34" charset="-120"/>
              </a:rPr>
              <a:t> and </a:t>
            </a:r>
            <a:r>
              <a:rPr lang="en-US" sz="1050" dirty="0">
                <a:solidFill>
                  <a:srgbClr val="D1D5DB"/>
                </a:solidFill>
                <a:latin typeface="Inter" pitchFamily="34" charset="0"/>
                <a:ea typeface="Inter" pitchFamily="34" charset="-122"/>
                <a:cs typeface="Inter" pitchFamily="34" charset="-120"/>
              </a:rPr>
              <a:t>hard to analyze.</a:t>
            </a:r>
            <a:endParaRPr lang="en-US" sz="1050" dirty="0"/>
          </a:p>
        </p:txBody>
      </p:sp>
      <p:pic>
        <p:nvPicPr>
          <p:cNvPr id="27" name="Image 9" descr="preencoded.png">    </p:cNvPr>
          <p:cNvPicPr>
            <a:picLocks noChangeAspect="1"/>
          </p:cNvPicPr>
          <p:nvPr/>
        </p:nvPicPr>
        <p:blipFill>
          <a:blip r:embed="rId10"/>
          <a:stretch>
            <a:fillRect/>
          </a:stretch>
        </p:blipFill>
        <p:spPr>
          <a:xfrm>
            <a:off x="6667519" y="3709392"/>
            <a:ext cx="142875" cy="178594"/>
          </a:xfrm>
          <a:prstGeom prst="rect">
            <a:avLst/>
          </a:prstGeom>
        </p:spPr>
      </p:pic>
      <p:sp>
        <p:nvSpPr>
          <p:cNvPr id="28" name="Text 15"/>
          <p:cNvSpPr/>
          <p:nvPr/>
        </p:nvSpPr>
        <p:spPr>
          <a:xfrm>
            <a:off x="6917550" y="3709392"/>
            <a:ext cx="1369228" cy="1000125"/>
          </a:xfrm>
          <a:prstGeom prst="rect">
            <a:avLst/>
          </a:prstGeom>
          <a:noFill/>
          <a:ln/>
        </p:spPr>
        <p:txBody>
          <a:bodyPr wrap="square" lIns="0" tIns="0" rIns="0" bIns="0" rtlCol="0" anchor="t">
            <a:spAutoFit/>
          </a:bodyPr>
          <a:lstStyle/>
          <a:p>
            <a:pPr algn="l" indent="0" marL="0">
              <a:lnSpc>
                <a:spcPct val="112000"/>
              </a:lnSpc>
              <a:buNone/>
            </a:pPr>
            <a:r>
              <a:rPr lang="en-US" sz="1050" dirty="0">
                <a:solidFill>
                  <a:srgbClr val="D1D5DB"/>
                </a:solidFill>
                <a:latin typeface="Inter" pitchFamily="34" charset="0"/>
                <a:ea typeface="Inter" pitchFamily="34" charset="-122"/>
                <a:cs typeface="Inter" pitchFamily="34" charset="-120"/>
              </a:rPr>
              <a:t>Compiling attendance reports leads to administrative overhead.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The FaceAttend Solution</a:t>
            </a:r>
            <a:endParaRPr lang="en-US" sz="3300" dirty="0"/>
          </a:p>
        </p:txBody>
      </p:sp>
      <p:sp>
        <p:nvSpPr>
          <p:cNvPr id="5" name="Shape 1"/>
          <p:cNvSpPr/>
          <p:nvPr/>
        </p:nvSpPr>
        <p:spPr>
          <a:xfrm>
            <a:off x="571500" y="1582341"/>
            <a:ext cx="2357438" cy="2443163"/>
          </a:xfrm>
          <a:prstGeom prst="rect">
            <a:avLst/>
          </a:prstGeom>
          <a:solidFill>
            <a:srgbClr val="FFFFFF">
              <a:alpha val="3000"/>
            </a:srgbClr>
          </a:solidFill>
          <a:ln w="9144">
            <a:solidFill>
              <a:srgbClr val="FFFFFF">
                <a:alpha val="10000"/>
              </a:srgbClr>
            </a:solidFill>
            <a:prstDash val="solid"/>
          </a:ln>
        </p:spPr>
      </p:sp>
      <p:sp>
        <p:nvSpPr>
          <p:cNvPr id="6" name="Shape 2"/>
          <p:cNvSpPr/>
          <p:nvPr/>
        </p:nvSpPr>
        <p:spPr>
          <a:xfrm>
            <a:off x="1459697" y="1875234"/>
            <a:ext cx="571500" cy="571500"/>
          </a:xfrm>
          <a:prstGeom prst="ellipse">
            <a:avLst/>
          </a:prstGeom>
          <a:solidFill>
            <a:srgbClr val="FF5722"/>
          </a:solidFill>
          <a:ln/>
        </p:spPr>
      </p:sp>
      <p:pic>
        <p:nvPicPr>
          <p:cNvPr id="7" name="Image 1" descr="preencoded.png">    </p:cNvPr>
          <p:cNvPicPr>
            <a:picLocks noChangeAspect="1"/>
          </p:cNvPicPr>
          <p:nvPr/>
        </p:nvPicPr>
        <p:blipFill>
          <a:blip r:embed="rId2"/>
          <a:stretch>
            <a:fillRect/>
          </a:stretch>
        </p:blipFill>
        <p:spPr>
          <a:xfrm>
            <a:off x="1674009" y="2046684"/>
            <a:ext cx="142875" cy="228600"/>
          </a:xfrm>
          <a:prstGeom prst="rect">
            <a:avLst/>
          </a:prstGeom>
        </p:spPr>
      </p:pic>
      <p:sp>
        <p:nvSpPr>
          <p:cNvPr id="8" name="Text 3"/>
          <p:cNvSpPr/>
          <p:nvPr/>
        </p:nvSpPr>
        <p:spPr>
          <a:xfrm>
            <a:off x="1384688" y="2589609"/>
            <a:ext cx="721519" cy="242888"/>
          </a:xfrm>
          <a:prstGeom prst="rect">
            <a:avLst/>
          </a:prstGeom>
          <a:noFill/>
          <a:ln/>
        </p:spPr>
        <p:txBody>
          <a:bodyPr wrap="none" lIns="0" tIns="0" rIns="0" bIns="0" rtlCol="0" anchor="t">
            <a:spAutoFit/>
          </a:bodyPr>
          <a:lstStyle/>
          <a:p>
            <a:pPr algn="ctr" indent="0" marL="0">
              <a:buNone/>
            </a:pPr>
            <a:r>
              <a:rPr lang="en-US" sz="1400" b="1" dirty="0">
                <a:solidFill>
                  <a:srgbClr val="FFFFFF"/>
                </a:solidFill>
                <a:latin typeface="Inter ExtraBold" pitchFamily="34" charset="0"/>
                <a:ea typeface="Inter ExtraBold" pitchFamily="34" charset="-122"/>
                <a:cs typeface="Inter ExtraBold" pitchFamily="34" charset="-120"/>
              </a:rPr>
              <a:t>Walk In</a:t>
            </a:r>
            <a:endParaRPr lang="en-US" sz="1400" dirty="0"/>
          </a:p>
        </p:txBody>
      </p:sp>
      <p:sp>
        <p:nvSpPr>
          <p:cNvPr id="9" name="Text 4"/>
          <p:cNvSpPr/>
          <p:nvPr/>
        </p:nvSpPr>
        <p:spPr>
          <a:xfrm>
            <a:off x="571500" y="2918222"/>
            <a:ext cx="2347922" cy="385763"/>
          </a:xfrm>
          <a:prstGeom prst="rect">
            <a:avLst/>
          </a:prstGeom>
          <a:noFill/>
          <a:ln/>
        </p:spPr>
        <p:txBody>
          <a:bodyPr wrap="square" lIns="102108" tIns="0" rIns="102108" bIns="0" rtlCol="0" anchor="t">
            <a:spAutoFit/>
          </a:bodyPr>
          <a:lstStyle/>
          <a:p>
            <a:pPr algn="ctr" indent="0" marL="0">
              <a:lnSpc>
                <a:spcPct val="120000"/>
              </a:lnSpc>
              <a:buNone/>
            </a:pPr>
            <a:r>
              <a:rPr lang="en-US" sz="950" dirty="0">
                <a:solidFill>
                  <a:srgbClr val="D1D5DB"/>
                </a:solidFill>
                <a:latin typeface="Inter" pitchFamily="34" charset="0"/>
                <a:ea typeface="Inter" pitchFamily="34" charset="-122"/>
                <a:cs typeface="Inter" pitchFamily="34" charset="-120"/>
              </a:rPr>
              <a:t>Students enter the classroom naturally without stopping.</a:t>
            </a:r>
            <a:endParaRPr lang="en-US" sz="950" dirty="0"/>
          </a:p>
        </p:txBody>
      </p:sp>
      <p:pic>
        <p:nvPicPr>
          <p:cNvPr id="10" name="Image 2" descr="preencoded.png">    </p:cNvPr>
          <p:cNvPicPr>
            <a:picLocks noChangeAspect="1"/>
          </p:cNvPicPr>
          <p:nvPr/>
        </p:nvPicPr>
        <p:blipFill>
          <a:blip r:embed="rId3"/>
          <a:stretch>
            <a:fillRect/>
          </a:stretch>
        </p:blipFill>
        <p:spPr>
          <a:xfrm>
            <a:off x="3062297" y="2800350"/>
            <a:ext cx="178594" cy="285750"/>
          </a:xfrm>
          <a:prstGeom prst="rect">
            <a:avLst/>
          </a:prstGeom>
        </p:spPr>
      </p:pic>
      <p:sp>
        <p:nvSpPr>
          <p:cNvPr id="11" name="Shape 5"/>
          <p:cNvSpPr/>
          <p:nvPr/>
        </p:nvSpPr>
        <p:spPr>
          <a:xfrm>
            <a:off x="3383766" y="1582341"/>
            <a:ext cx="2362209" cy="2443163"/>
          </a:xfrm>
          <a:prstGeom prst="rect">
            <a:avLst/>
          </a:prstGeom>
          <a:solidFill>
            <a:srgbClr val="FFFFFF">
              <a:alpha val="3000"/>
            </a:srgbClr>
          </a:solidFill>
          <a:ln w="9144">
            <a:solidFill>
              <a:srgbClr val="FFFFFF">
                <a:alpha val="10000"/>
              </a:srgbClr>
            </a:solidFill>
            <a:prstDash val="solid"/>
          </a:ln>
        </p:spPr>
      </p:sp>
      <p:sp>
        <p:nvSpPr>
          <p:cNvPr id="12" name="Shape 6"/>
          <p:cNvSpPr/>
          <p:nvPr/>
        </p:nvSpPr>
        <p:spPr>
          <a:xfrm>
            <a:off x="4279078" y="1875234"/>
            <a:ext cx="571500" cy="571500"/>
          </a:xfrm>
          <a:prstGeom prst="ellipse">
            <a:avLst/>
          </a:prstGeom>
          <a:solidFill>
            <a:srgbClr val="FF5722"/>
          </a:solidFill>
          <a:ln/>
        </p:spPr>
      </p:sp>
      <p:pic>
        <p:nvPicPr>
          <p:cNvPr id="13" name="Image 3" descr="preencoded.png">    </p:cNvPr>
          <p:cNvPicPr>
            <a:picLocks noChangeAspect="1"/>
          </p:cNvPicPr>
          <p:nvPr/>
        </p:nvPicPr>
        <p:blipFill>
          <a:blip r:embed="rId4"/>
          <a:stretch>
            <a:fillRect/>
          </a:stretch>
        </p:blipFill>
        <p:spPr>
          <a:xfrm>
            <a:off x="4450528" y="2046684"/>
            <a:ext cx="228600" cy="228600"/>
          </a:xfrm>
          <a:prstGeom prst="rect">
            <a:avLst/>
          </a:prstGeom>
        </p:spPr>
      </p:pic>
      <p:sp>
        <p:nvSpPr>
          <p:cNvPr id="14" name="Text 7"/>
          <p:cNvSpPr/>
          <p:nvPr/>
        </p:nvSpPr>
        <p:spPr>
          <a:xfrm>
            <a:off x="3870099" y="2589609"/>
            <a:ext cx="1389459" cy="242888"/>
          </a:xfrm>
          <a:prstGeom prst="rect">
            <a:avLst/>
          </a:prstGeom>
          <a:noFill/>
          <a:ln/>
        </p:spPr>
        <p:txBody>
          <a:bodyPr wrap="square" lIns="0" tIns="0" rIns="0" bIns="0" rtlCol="0" anchor="t">
            <a:spAutoFit/>
          </a:bodyPr>
          <a:lstStyle/>
          <a:p>
            <a:pPr algn="ctr" indent="0" marL="0">
              <a:buNone/>
            </a:pPr>
            <a:r>
              <a:rPr lang="en-US" sz="1400" b="1" dirty="0">
                <a:solidFill>
                  <a:srgbClr val="FFFFFF"/>
                </a:solidFill>
                <a:latin typeface="Inter ExtraBold" pitchFamily="34" charset="0"/>
                <a:ea typeface="Inter ExtraBold" pitchFamily="34" charset="-122"/>
                <a:cs typeface="Inter ExtraBold" pitchFamily="34" charset="-120"/>
              </a:rPr>
              <a:t>Face Scanned</a:t>
            </a:r>
            <a:endParaRPr lang="en-US" sz="1400" dirty="0"/>
          </a:p>
        </p:txBody>
      </p:sp>
      <p:sp>
        <p:nvSpPr>
          <p:cNvPr id="15" name="Text 8"/>
          <p:cNvSpPr/>
          <p:nvPr/>
        </p:nvSpPr>
        <p:spPr>
          <a:xfrm>
            <a:off x="3388509" y="2918222"/>
            <a:ext cx="2352666" cy="385763"/>
          </a:xfrm>
          <a:prstGeom prst="rect">
            <a:avLst/>
          </a:prstGeom>
          <a:noFill/>
          <a:ln/>
        </p:spPr>
        <p:txBody>
          <a:bodyPr wrap="square" lIns="102108" tIns="0" rIns="102108" bIns="0" rtlCol="0" anchor="t">
            <a:spAutoFit/>
          </a:bodyPr>
          <a:lstStyle/>
          <a:p>
            <a:pPr algn="ctr" indent="0" marL="0">
              <a:lnSpc>
                <a:spcPct val="120000"/>
              </a:lnSpc>
              <a:buNone/>
            </a:pPr>
            <a:r>
              <a:rPr lang="en-US" sz="950" dirty="0">
                <a:solidFill>
                  <a:srgbClr val="D1D5DB"/>
                </a:solidFill>
                <a:latin typeface="Inter" pitchFamily="34" charset="0"/>
                <a:ea typeface="Inter" pitchFamily="34" charset="-122"/>
                <a:cs typeface="Inter" pitchFamily="34" charset="-120"/>
              </a:rPr>
              <a:t>Real-time detection and encoding at 15 frames per second.</a:t>
            </a:r>
            <a:endParaRPr lang="en-US" sz="950" dirty="0"/>
          </a:p>
        </p:txBody>
      </p:sp>
      <p:pic>
        <p:nvPicPr>
          <p:cNvPr id="16" name="Image 4" descr="preencoded.png">    </p:cNvPr>
          <p:cNvPicPr>
            <a:picLocks noChangeAspect="1"/>
          </p:cNvPicPr>
          <p:nvPr/>
        </p:nvPicPr>
        <p:blipFill>
          <a:blip r:embed="rId5"/>
          <a:stretch>
            <a:fillRect/>
          </a:stretch>
        </p:blipFill>
        <p:spPr>
          <a:xfrm>
            <a:off x="5884050" y="2800350"/>
            <a:ext cx="178594" cy="285750"/>
          </a:xfrm>
          <a:prstGeom prst="rect">
            <a:avLst/>
          </a:prstGeom>
        </p:spPr>
      </p:pic>
      <p:sp>
        <p:nvSpPr>
          <p:cNvPr id="17" name="Shape 9"/>
          <p:cNvSpPr/>
          <p:nvPr/>
        </p:nvSpPr>
        <p:spPr>
          <a:xfrm>
            <a:off x="6205519" y="1582341"/>
            <a:ext cx="2366953" cy="2443163"/>
          </a:xfrm>
          <a:prstGeom prst="rect">
            <a:avLst/>
          </a:prstGeom>
          <a:solidFill>
            <a:srgbClr val="FFFFFF">
              <a:alpha val="3000"/>
            </a:srgbClr>
          </a:solidFill>
          <a:ln w="9144">
            <a:solidFill>
              <a:srgbClr val="FFFFFF">
                <a:alpha val="10000"/>
              </a:srgbClr>
            </a:solidFill>
            <a:prstDash val="solid"/>
          </a:ln>
        </p:spPr>
      </p:sp>
      <p:sp>
        <p:nvSpPr>
          <p:cNvPr id="18" name="Shape 10"/>
          <p:cNvSpPr/>
          <p:nvPr/>
        </p:nvSpPr>
        <p:spPr>
          <a:xfrm>
            <a:off x="7108031" y="1868091"/>
            <a:ext cx="571500" cy="571500"/>
          </a:xfrm>
          <a:prstGeom prst="ellipse">
            <a:avLst/>
          </a:prstGeom>
          <a:solidFill>
            <a:srgbClr val="FF5722"/>
          </a:solidFill>
          <a:ln/>
        </p:spPr>
      </p:sp>
      <p:pic>
        <p:nvPicPr>
          <p:cNvPr id="19" name="Image 5" descr="preencoded.png">    </p:cNvPr>
          <p:cNvPicPr>
            <a:picLocks noChangeAspect="1"/>
          </p:cNvPicPr>
          <p:nvPr/>
        </p:nvPicPr>
        <p:blipFill>
          <a:blip r:embed="rId6"/>
          <a:stretch>
            <a:fillRect/>
          </a:stretch>
        </p:blipFill>
        <p:spPr>
          <a:xfrm>
            <a:off x="7279481" y="2039541"/>
            <a:ext cx="228600" cy="228600"/>
          </a:xfrm>
          <a:prstGeom prst="rect">
            <a:avLst/>
          </a:prstGeom>
        </p:spPr>
      </p:pic>
      <p:sp>
        <p:nvSpPr>
          <p:cNvPr id="20" name="Text 11"/>
          <p:cNvSpPr/>
          <p:nvPr/>
        </p:nvSpPr>
        <p:spPr>
          <a:xfrm>
            <a:off x="7016948" y="2582466"/>
            <a:ext cx="753666" cy="242888"/>
          </a:xfrm>
          <a:prstGeom prst="rect">
            <a:avLst/>
          </a:prstGeom>
          <a:noFill/>
          <a:ln/>
        </p:spPr>
        <p:txBody>
          <a:bodyPr wrap="none" lIns="0" tIns="0" rIns="0" bIns="0" rtlCol="0" anchor="t">
            <a:spAutoFit/>
          </a:bodyPr>
          <a:lstStyle/>
          <a:p>
            <a:pPr algn="ctr" indent="0" marL="0">
              <a:buNone/>
            </a:pPr>
            <a:r>
              <a:rPr lang="en-US" sz="1400" b="1" dirty="0">
                <a:solidFill>
                  <a:srgbClr val="FFFFFF"/>
                </a:solidFill>
                <a:latin typeface="Inter ExtraBold" pitchFamily="34" charset="0"/>
                <a:ea typeface="Inter ExtraBold" pitchFamily="34" charset="-122"/>
                <a:cs typeface="Inter ExtraBold" pitchFamily="34" charset="-120"/>
              </a:rPr>
              <a:t>Marked</a:t>
            </a:r>
            <a:endParaRPr lang="en-US" sz="1400" dirty="0"/>
          </a:p>
        </p:txBody>
      </p:sp>
      <p:sp>
        <p:nvSpPr>
          <p:cNvPr id="21" name="Text 12"/>
          <p:cNvSpPr/>
          <p:nvPr/>
        </p:nvSpPr>
        <p:spPr>
          <a:xfrm>
            <a:off x="6215063" y="2911078"/>
            <a:ext cx="2357438" cy="385763"/>
          </a:xfrm>
          <a:prstGeom prst="rect">
            <a:avLst/>
          </a:prstGeom>
          <a:noFill/>
          <a:ln/>
        </p:spPr>
        <p:txBody>
          <a:bodyPr wrap="square" lIns="102108" tIns="0" rIns="102108" bIns="0" rtlCol="0" anchor="t">
            <a:spAutoFit/>
          </a:bodyPr>
          <a:lstStyle/>
          <a:p>
            <a:pPr algn="ctr" indent="0" marL="0">
              <a:lnSpc>
                <a:spcPct val="120000"/>
              </a:lnSpc>
              <a:buNone/>
            </a:pPr>
            <a:r>
              <a:rPr lang="en-US" sz="950" dirty="0">
                <a:solidFill>
                  <a:srgbClr val="D1D5DB"/>
                </a:solidFill>
                <a:latin typeface="Inter" pitchFamily="34" charset="0"/>
                <a:ea typeface="Inter" pitchFamily="34" charset="-122"/>
                <a:cs typeface="Inter" pitchFamily="34" charset="-120"/>
              </a:rPr>
              <a:t>Instant database update with photographic proof and voice alert.</a:t>
            </a:r>
            <a:endParaRPr lang="en-US" sz="950" dirty="0"/>
          </a:p>
        </p:txBody>
      </p:sp>
      <p:sp>
        <p:nvSpPr>
          <p:cNvPr id="22" name="Shape 13"/>
          <p:cNvSpPr/>
          <p:nvPr/>
        </p:nvSpPr>
        <p:spPr>
          <a:xfrm>
            <a:off x="571500" y="4154091"/>
            <a:ext cx="8001000" cy="928688"/>
          </a:xfrm>
          <a:prstGeom prst="rect">
            <a:avLst/>
          </a:prstGeom>
          <a:solidFill>
            <a:srgbClr val="FF5722">
              <a:alpha val="10000"/>
            </a:srgbClr>
          </a:solidFill>
          <a:ln/>
        </p:spPr>
      </p:sp>
      <p:sp>
        <p:nvSpPr>
          <p:cNvPr id="23" name="Shape 14"/>
          <p:cNvSpPr/>
          <p:nvPr/>
        </p:nvSpPr>
        <p:spPr>
          <a:xfrm>
            <a:off x="571500" y="4154091"/>
            <a:ext cx="28575" cy="928688"/>
          </a:xfrm>
          <a:prstGeom prst="rect">
            <a:avLst/>
          </a:prstGeom>
          <a:solidFill>
            <a:srgbClr val="FF5722"/>
          </a:solidFill>
          <a:ln/>
        </p:spPr>
      </p:sp>
      <p:sp>
        <p:nvSpPr>
          <p:cNvPr id="24" name="Text 15"/>
          <p:cNvSpPr/>
          <p:nvPr/>
        </p:nvSpPr>
        <p:spPr>
          <a:xfrm>
            <a:off x="857250" y="4368403"/>
            <a:ext cx="7715250" cy="414338"/>
          </a:xfrm>
          <a:prstGeom prst="rect">
            <a:avLst/>
          </a:prstGeom>
          <a:noFill/>
          <a:ln/>
        </p:spPr>
        <p:txBody>
          <a:bodyPr wrap="square" lIns="0" tIns="0" rIns="0" bIns="0" rtlCol="0" anchor="t">
            <a:spAutoFit/>
          </a:bodyPr>
          <a:lstStyle/>
          <a:p>
            <a:pPr algn="l" indent="0" marL="0">
              <a:buNone/>
            </a:pPr>
            <a:r>
              <a:rPr lang="en-US" sz="1250" dirty="0">
                <a:solidFill>
                  <a:srgbClr val="FF5722"/>
                </a:solidFill>
                <a:latin typeface="Inter Medium" pitchFamily="34" charset="0"/>
                <a:ea typeface="Inter Medium" pitchFamily="34" charset="-122"/>
                <a:cs typeface="Inter Medium" pitchFamily="34" charset="-120"/>
              </a:rPr>
              <a:t>"Transforming attendance from a manual chore into a seamless, high-integrity background process."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92919"/>
            <a:ext cx="8572500" cy="483989"/>
          </a:xfrm>
          <a:prstGeom prst="rect">
            <a:avLst/>
          </a:prstGeom>
          <a:noFill/>
          <a:ln/>
        </p:spPr>
        <p:txBody>
          <a:bodyPr wrap="square" lIns="0" tIns="0" rIns="0" bIns="0" rtlCol="0" anchor="t">
            <a:spAutoFit/>
          </a:bodyPr>
          <a:lstStyle/>
          <a:p>
            <a:pPr algn="l" indent="0" marL="0">
              <a:buNone/>
            </a:pPr>
            <a:r>
              <a:rPr lang="en-US" sz="2850" b="1" dirty="0">
                <a:solidFill>
                  <a:srgbClr val="FFFFFF"/>
                </a:solidFill>
                <a:latin typeface="Inter ExtraBold" pitchFamily="34" charset="0"/>
                <a:ea typeface="Inter ExtraBold" pitchFamily="34" charset="-122"/>
                <a:cs typeface="Inter ExtraBold" pitchFamily="34" charset="-120"/>
              </a:rPr>
              <a:t>High-Performance Features</a:t>
            </a:r>
            <a:endParaRPr lang="en-US" sz="2850" dirty="0"/>
          </a:p>
        </p:txBody>
      </p:sp>
      <p:sp>
        <p:nvSpPr>
          <p:cNvPr id="5" name="Shape 1"/>
          <p:cNvSpPr/>
          <p:nvPr/>
        </p:nvSpPr>
        <p:spPr>
          <a:xfrm>
            <a:off x="571500" y="1262658"/>
            <a:ext cx="2524116" cy="1800225"/>
          </a:xfrm>
          <a:prstGeom prst="rect">
            <a:avLst/>
          </a:prstGeom>
          <a:solidFill>
            <a:srgbClr val="FFFFFF">
              <a:alpha val="3000"/>
            </a:srgbClr>
          </a:solidFill>
          <a:ln w="9144">
            <a:solidFill>
              <a:srgbClr val="FFFFFF">
                <a:alpha val="10000"/>
              </a:srgbClr>
            </a:solidFill>
            <a:prstDash val="solid"/>
          </a:ln>
        </p:spPr>
      </p:sp>
      <p:pic>
        <p:nvPicPr>
          <p:cNvPr id="6" name="Image 1" descr="preencoded.png">    </p:cNvPr>
          <p:cNvPicPr>
            <a:picLocks noChangeAspect="1"/>
          </p:cNvPicPr>
          <p:nvPr/>
        </p:nvPicPr>
        <p:blipFill>
          <a:blip r:embed="rId2"/>
          <a:stretch>
            <a:fillRect/>
          </a:stretch>
        </p:blipFill>
        <p:spPr>
          <a:xfrm>
            <a:off x="785813" y="1496616"/>
            <a:ext cx="150019" cy="200025"/>
          </a:xfrm>
          <a:prstGeom prst="rect">
            <a:avLst/>
          </a:prstGeom>
        </p:spPr>
      </p:pic>
      <p:sp>
        <p:nvSpPr>
          <p:cNvPr id="7" name="Text 2"/>
          <p:cNvSpPr/>
          <p:nvPr/>
        </p:nvSpPr>
        <p:spPr>
          <a:xfrm>
            <a:off x="785813" y="1862733"/>
            <a:ext cx="2095491"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ExtraBold" pitchFamily="34" charset="0"/>
                <a:ea typeface="Inter ExtraBold" pitchFamily="34" charset="-122"/>
                <a:cs typeface="Inter ExtraBold" pitchFamily="34" charset="-120"/>
              </a:rPr>
              <a:t>Real-Time Detection</a:t>
            </a:r>
            <a:endParaRPr lang="en-US" sz="1200" dirty="0"/>
          </a:p>
        </p:txBody>
      </p:sp>
      <p:sp>
        <p:nvSpPr>
          <p:cNvPr id="8" name="Text 3"/>
          <p:cNvSpPr/>
          <p:nvPr/>
        </p:nvSpPr>
        <p:spPr>
          <a:xfrm>
            <a:off x="785813" y="2155627"/>
            <a:ext cx="209549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CA3AF"/>
                </a:solidFill>
                <a:latin typeface="Inter" pitchFamily="34" charset="0"/>
                <a:ea typeface="Inter" pitchFamily="34" charset="-122"/>
                <a:cs typeface="Inter" pitchFamily="34" charset="-120"/>
              </a:rPr>
              <a:t>Live camera stream processing at 15 FPS using optimized HOG models.</a:t>
            </a:r>
            <a:endParaRPr lang="en-US" sz="850" dirty="0"/>
          </a:p>
        </p:txBody>
      </p:sp>
      <p:sp>
        <p:nvSpPr>
          <p:cNvPr id="9" name="Shape 4"/>
          <p:cNvSpPr/>
          <p:nvPr/>
        </p:nvSpPr>
        <p:spPr>
          <a:xfrm>
            <a:off x="785813" y="2605683"/>
            <a:ext cx="2095491" cy="200025"/>
          </a:xfrm>
          <a:prstGeom prst="rect">
            <a:avLst/>
          </a:prstGeom>
          <a:solidFill>
            <a:srgbClr val="FF5722">
              <a:alpha val="10000"/>
            </a:srgbClr>
          </a:solidFill>
          <a:ln/>
        </p:spPr>
      </p:sp>
      <p:sp>
        <p:nvSpPr>
          <p:cNvPr id="10" name="Text 5"/>
          <p:cNvSpPr/>
          <p:nvPr/>
        </p:nvSpPr>
        <p:spPr>
          <a:xfrm>
            <a:off x="785813" y="2605683"/>
            <a:ext cx="2095491" cy="200025"/>
          </a:xfrm>
          <a:prstGeom prst="rect">
            <a:avLst/>
          </a:prstGeom>
          <a:noFill/>
          <a:ln/>
        </p:spPr>
        <p:txBody>
          <a:bodyPr wrap="square" lIns="85090" tIns="34036" rIns="85090" bIns="0" rtlCol="0" anchor="t">
            <a:spAutoFit/>
          </a:bodyPr>
          <a:lstStyle/>
          <a:p>
            <a:pPr algn="l" indent="0" marL="0">
              <a:buNone/>
            </a:pPr>
            <a:r>
              <a:rPr lang="en-US" sz="600" b="1" spc="1" kern="0" dirty="0">
                <a:solidFill>
                  <a:srgbClr val="FF5722"/>
                </a:solidFill>
                <a:latin typeface="Inter ExtraBold" pitchFamily="34" charset="0"/>
                <a:ea typeface="Inter ExtraBold" pitchFamily="34" charset="-122"/>
                <a:cs typeface="Inter ExtraBold" pitchFamily="34" charset="-120"/>
              </a:rPr>
              <a:t>OPENCV + DLIB</a:t>
            </a:r>
            <a:endParaRPr lang="en-US" sz="600" dirty="0"/>
          </a:p>
        </p:txBody>
      </p:sp>
      <p:sp>
        <p:nvSpPr>
          <p:cNvPr id="11" name="Shape 6"/>
          <p:cNvSpPr/>
          <p:nvPr/>
        </p:nvSpPr>
        <p:spPr>
          <a:xfrm>
            <a:off x="3309928" y="1262658"/>
            <a:ext cx="2524116" cy="1800225"/>
          </a:xfrm>
          <a:prstGeom prst="rect">
            <a:avLst/>
          </a:prstGeom>
          <a:solidFill>
            <a:srgbClr val="FFFFFF">
              <a:alpha val="3000"/>
            </a:srgbClr>
          </a:solidFill>
          <a:ln w="9144">
            <a:solidFill>
              <a:srgbClr val="FFFFFF">
                <a:alpha val="10000"/>
              </a:srgbClr>
            </a:solidFill>
            <a:prstDash val="solid"/>
          </a:ln>
        </p:spPr>
      </p:sp>
      <p:pic>
        <p:nvPicPr>
          <p:cNvPr id="12" name="Image 2" descr="preencoded.png">    </p:cNvPr>
          <p:cNvPicPr>
            <a:picLocks noChangeAspect="1"/>
          </p:cNvPicPr>
          <p:nvPr/>
        </p:nvPicPr>
        <p:blipFill>
          <a:blip r:embed="rId3"/>
          <a:stretch>
            <a:fillRect/>
          </a:stretch>
        </p:blipFill>
        <p:spPr>
          <a:xfrm>
            <a:off x="3524241" y="1496616"/>
            <a:ext cx="250031" cy="200025"/>
          </a:xfrm>
          <a:prstGeom prst="rect">
            <a:avLst/>
          </a:prstGeom>
        </p:spPr>
      </p:pic>
      <p:sp>
        <p:nvSpPr>
          <p:cNvPr id="13" name="Text 7"/>
          <p:cNvSpPr/>
          <p:nvPr/>
        </p:nvSpPr>
        <p:spPr>
          <a:xfrm>
            <a:off x="3524241" y="1862733"/>
            <a:ext cx="2095491"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ExtraBold" pitchFamily="34" charset="0"/>
                <a:ea typeface="Inter ExtraBold" pitchFamily="34" charset="-122"/>
                <a:cs typeface="Inter ExtraBold" pitchFamily="34" charset="-120"/>
              </a:rPr>
              <a:t>Smart Audio</a:t>
            </a:r>
            <a:endParaRPr lang="en-US" sz="1200" dirty="0"/>
          </a:p>
        </p:txBody>
      </p:sp>
      <p:sp>
        <p:nvSpPr>
          <p:cNvPr id="14" name="Text 8"/>
          <p:cNvSpPr/>
          <p:nvPr/>
        </p:nvSpPr>
        <p:spPr>
          <a:xfrm>
            <a:off x="3524241" y="2155627"/>
            <a:ext cx="209549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CA3AF"/>
                </a:solidFill>
                <a:latin typeface="Inter" pitchFamily="34" charset="0"/>
                <a:ea typeface="Inter" pitchFamily="34" charset="-122"/>
                <a:cs typeface="Inter" pitchFamily="34" charset="-120"/>
              </a:rPr>
              <a:t>Integrated Text-to-Speech announces student names upon recognition.</a:t>
            </a:r>
            <a:endParaRPr lang="en-US" sz="850" dirty="0"/>
          </a:p>
        </p:txBody>
      </p:sp>
      <p:sp>
        <p:nvSpPr>
          <p:cNvPr id="15" name="Shape 9"/>
          <p:cNvSpPr/>
          <p:nvPr/>
        </p:nvSpPr>
        <p:spPr>
          <a:xfrm>
            <a:off x="3524241" y="2605683"/>
            <a:ext cx="2095491" cy="200025"/>
          </a:xfrm>
          <a:prstGeom prst="rect">
            <a:avLst/>
          </a:prstGeom>
          <a:solidFill>
            <a:srgbClr val="FF5722">
              <a:alpha val="10000"/>
            </a:srgbClr>
          </a:solidFill>
          <a:ln/>
        </p:spPr>
      </p:sp>
      <p:sp>
        <p:nvSpPr>
          <p:cNvPr id="16" name="Text 10"/>
          <p:cNvSpPr/>
          <p:nvPr/>
        </p:nvSpPr>
        <p:spPr>
          <a:xfrm>
            <a:off x="3524241" y="2605683"/>
            <a:ext cx="2095491" cy="200025"/>
          </a:xfrm>
          <a:prstGeom prst="rect">
            <a:avLst/>
          </a:prstGeom>
          <a:noFill/>
          <a:ln/>
        </p:spPr>
        <p:txBody>
          <a:bodyPr wrap="square" lIns="85090" tIns="34036" rIns="85090" bIns="0" rtlCol="0" anchor="t">
            <a:spAutoFit/>
          </a:bodyPr>
          <a:lstStyle/>
          <a:p>
            <a:pPr algn="l" indent="0" marL="0">
              <a:buNone/>
            </a:pPr>
            <a:r>
              <a:rPr lang="en-US" sz="600" b="1" spc="1" kern="0" dirty="0">
                <a:solidFill>
                  <a:srgbClr val="FF5722"/>
                </a:solidFill>
                <a:latin typeface="Inter ExtraBold" pitchFamily="34" charset="0"/>
                <a:ea typeface="Inter ExtraBold" pitchFamily="34" charset="-122"/>
                <a:cs typeface="Inter ExtraBold" pitchFamily="34" charset="-120"/>
              </a:rPr>
              <a:t>PYTHON TTS</a:t>
            </a:r>
            <a:endParaRPr lang="en-US" sz="600" dirty="0"/>
          </a:p>
        </p:txBody>
      </p:sp>
      <p:sp>
        <p:nvSpPr>
          <p:cNvPr id="17" name="Shape 11"/>
          <p:cNvSpPr/>
          <p:nvPr/>
        </p:nvSpPr>
        <p:spPr>
          <a:xfrm>
            <a:off x="6048356" y="1262658"/>
            <a:ext cx="2524144" cy="1800225"/>
          </a:xfrm>
          <a:prstGeom prst="rect">
            <a:avLst/>
          </a:prstGeom>
          <a:solidFill>
            <a:srgbClr val="FFFFFF">
              <a:alpha val="3000"/>
            </a:srgbClr>
          </a:solidFill>
          <a:ln w="9144">
            <a:solidFill>
              <a:srgbClr val="FFFFFF">
                <a:alpha val="10000"/>
              </a:srgbClr>
            </a:solidFill>
            <a:prstDash val="solid"/>
          </a:ln>
        </p:spPr>
      </p:sp>
      <p:pic>
        <p:nvPicPr>
          <p:cNvPr id="18" name="Image 3" descr="preencoded.png">    </p:cNvPr>
          <p:cNvPicPr>
            <a:picLocks noChangeAspect="1"/>
          </p:cNvPicPr>
          <p:nvPr/>
        </p:nvPicPr>
        <p:blipFill>
          <a:blip r:embed="rId4"/>
          <a:stretch>
            <a:fillRect/>
          </a:stretch>
        </p:blipFill>
        <p:spPr>
          <a:xfrm>
            <a:off x="6262669" y="1496616"/>
            <a:ext cx="200025" cy="200025"/>
          </a:xfrm>
          <a:prstGeom prst="rect">
            <a:avLst/>
          </a:prstGeom>
        </p:spPr>
      </p:pic>
      <p:sp>
        <p:nvSpPr>
          <p:cNvPr id="19" name="Text 12"/>
          <p:cNvSpPr/>
          <p:nvPr/>
        </p:nvSpPr>
        <p:spPr>
          <a:xfrm>
            <a:off x="6262669" y="1862733"/>
            <a:ext cx="2095519"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ExtraBold" pitchFamily="34" charset="0"/>
                <a:ea typeface="Inter ExtraBold" pitchFamily="34" charset="-122"/>
                <a:cs typeface="Inter ExtraBold" pitchFamily="34" charset="-120"/>
              </a:rPr>
              <a:t>Proof-of-Presence</a:t>
            </a:r>
            <a:endParaRPr lang="en-US" sz="1200" dirty="0"/>
          </a:p>
        </p:txBody>
      </p:sp>
      <p:sp>
        <p:nvSpPr>
          <p:cNvPr id="20" name="Text 13"/>
          <p:cNvSpPr/>
          <p:nvPr/>
        </p:nvSpPr>
        <p:spPr>
          <a:xfrm>
            <a:off x="6262669" y="2155627"/>
            <a:ext cx="2095519"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CA3AF"/>
                </a:solidFill>
                <a:latin typeface="Inter" pitchFamily="34" charset="0"/>
                <a:ea typeface="Inter" pitchFamily="34" charset="-122"/>
                <a:cs typeface="Inter" pitchFamily="34" charset="-120"/>
              </a:rPr>
              <a:t>Automated snapshots stored for every record to eliminate proxy disputes.</a:t>
            </a:r>
            <a:endParaRPr lang="en-US" sz="850" dirty="0"/>
          </a:p>
        </p:txBody>
      </p:sp>
      <p:sp>
        <p:nvSpPr>
          <p:cNvPr id="21" name="Shape 14"/>
          <p:cNvSpPr/>
          <p:nvPr/>
        </p:nvSpPr>
        <p:spPr>
          <a:xfrm>
            <a:off x="6262669" y="2605683"/>
            <a:ext cx="2095519" cy="200025"/>
          </a:xfrm>
          <a:prstGeom prst="rect">
            <a:avLst/>
          </a:prstGeom>
          <a:solidFill>
            <a:srgbClr val="FF5722">
              <a:alpha val="10000"/>
            </a:srgbClr>
          </a:solidFill>
          <a:ln/>
        </p:spPr>
      </p:sp>
      <p:sp>
        <p:nvSpPr>
          <p:cNvPr id="22" name="Text 15"/>
          <p:cNvSpPr/>
          <p:nvPr/>
        </p:nvSpPr>
        <p:spPr>
          <a:xfrm>
            <a:off x="6262669" y="2605683"/>
            <a:ext cx="2095519" cy="200025"/>
          </a:xfrm>
          <a:prstGeom prst="rect">
            <a:avLst/>
          </a:prstGeom>
          <a:noFill/>
          <a:ln/>
        </p:spPr>
        <p:txBody>
          <a:bodyPr wrap="square" lIns="85090" tIns="34036" rIns="85090" bIns="0" rtlCol="0" anchor="t">
            <a:spAutoFit/>
          </a:bodyPr>
          <a:lstStyle/>
          <a:p>
            <a:pPr algn="l" indent="0" marL="0">
              <a:buNone/>
            </a:pPr>
            <a:r>
              <a:rPr lang="en-US" sz="600" b="1" spc="1" kern="0" dirty="0">
                <a:solidFill>
                  <a:srgbClr val="FF5722"/>
                </a:solidFill>
                <a:latin typeface="Inter ExtraBold" pitchFamily="34" charset="0"/>
                <a:ea typeface="Inter ExtraBold" pitchFamily="34" charset="-122"/>
                <a:cs typeface="Inter ExtraBold" pitchFamily="34" charset="-120"/>
              </a:rPr>
              <a:t>LOCAL STORAGE</a:t>
            </a:r>
            <a:endParaRPr lang="en-US" sz="600" dirty="0"/>
          </a:p>
        </p:txBody>
      </p:sp>
      <p:sp>
        <p:nvSpPr>
          <p:cNvPr id="23" name="Shape 16"/>
          <p:cNvSpPr/>
          <p:nvPr/>
        </p:nvSpPr>
        <p:spPr>
          <a:xfrm>
            <a:off x="571500" y="3262908"/>
            <a:ext cx="2524116" cy="1800225"/>
          </a:xfrm>
          <a:prstGeom prst="rect">
            <a:avLst/>
          </a:prstGeom>
          <a:solidFill>
            <a:srgbClr val="FFFFFF">
              <a:alpha val="3000"/>
            </a:srgbClr>
          </a:solidFill>
          <a:ln w="9144">
            <a:solidFill>
              <a:srgbClr val="FFFFFF">
                <a:alpha val="10000"/>
              </a:srgbClr>
            </a:solidFill>
            <a:prstDash val="solid"/>
          </a:ln>
        </p:spPr>
      </p:sp>
      <p:pic>
        <p:nvPicPr>
          <p:cNvPr id="24" name="Image 4" descr="preencoded.png">    </p:cNvPr>
          <p:cNvPicPr>
            <a:picLocks noChangeAspect="1"/>
          </p:cNvPicPr>
          <p:nvPr/>
        </p:nvPicPr>
        <p:blipFill>
          <a:blip r:embed="rId5"/>
          <a:stretch>
            <a:fillRect/>
          </a:stretch>
        </p:blipFill>
        <p:spPr>
          <a:xfrm>
            <a:off x="785813" y="3496866"/>
            <a:ext cx="200025" cy="200025"/>
          </a:xfrm>
          <a:prstGeom prst="rect">
            <a:avLst/>
          </a:prstGeom>
        </p:spPr>
      </p:pic>
      <p:sp>
        <p:nvSpPr>
          <p:cNvPr id="25" name="Text 17"/>
          <p:cNvSpPr/>
          <p:nvPr/>
        </p:nvSpPr>
        <p:spPr>
          <a:xfrm>
            <a:off x="785813" y="3862983"/>
            <a:ext cx="2095491"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ExtraBold" pitchFamily="34" charset="0"/>
                <a:ea typeface="Inter ExtraBold" pitchFamily="34" charset="-122"/>
                <a:cs typeface="Inter ExtraBold" pitchFamily="34" charset="-120"/>
              </a:rPr>
              <a:t>Dynamic Analytics</a:t>
            </a:r>
            <a:endParaRPr lang="en-US" sz="1200" dirty="0"/>
          </a:p>
        </p:txBody>
      </p:sp>
      <p:sp>
        <p:nvSpPr>
          <p:cNvPr id="26" name="Text 18"/>
          <p:cNvSpPr/>
          <p:nvPr/>
        </p:nvSpPr>
        <p:spPr>
          <a:xfrm>
            <a:off x="785813" y="4155877"/>
            <a:ext cx="209549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CA3AF"/>
                </a:solidFill>
                <a:latin typeface="Inter" pitchFamily="34" charset="0"/>
                <a:ea typeface="Inter" pitchFamily="34" charset="-122"/>
                <a:cs typeface="Inter" pitchFamily="34" charset="-120"/>
              </a:rPr>
              <a:t>Interactive charts and trends for per-student and class-wide rates.</a:t>
            </a:r>
            <a:endParaRPr lang="en-US" sz="850" dirty="0"/>
          </a:p>
        </p:txBody>
      </p:sp>
      <p:sp>
        <p:nvSpPr>
          <p:cNvPr id="27" name="Shape 19"/>
          <p:cNvSpPr/>
          <p:nvPr/>
        </p:nvSpPr>
        <p:spPr>
          <a:xfrm>
            <a:off x="785813" y="4605933"/>
            <a:ext cx="2095491" cy="200025"/>
          </a:xfrm>
          <a:prstGeom prst="rect">
            <a:avLst/>
          </a:prstGeom>
          <a:solidFill>
            <a:srgbClr val="FF5722">
              <a:alpha val="10000"/>
            </a:srgbClr>
          </a:solidFill>
          <a:ln/>
        </p:spPr>
      </p:sp>
      <p:sp>
        <p:nvSpPr>
          <p:cNvPr id="28" name="Text 20"/>
          <p:cNvSpPr/>
          <p:nvPr/>
        </p:nvSpPr>
        <p:spPr>
          <a:xfrm>
            <a:off x="785813" y="4605933"/>
            <a:ext cx="2095491" cy="200025"/>
          </a:xfrm>
          <a:prstGeom prst="rect">
            <a:avLst/>
          </a:prstGeom>
          <a:noFill/>
          <a:ln/>
        </p:spPr>
        <p:txBody>
          <a:bodyPr wrap="square" lIns="85090" tIns="34036" rIns="85090" bIns="0" rtlCol="0" anchor="t">
            <a:spAutoFit/>
          </a:bodyPr>
          <a:lstStyle/>
          <a:p>
            <a:pPr algn="l" indent="0" marL="0">
              <a:buNone/>
            </a:pPr>
            <a:r>
              <a:rPr lang="en-US" sz="600" b="1" spc="1" kern="0" dirty="0">
                <a:solidFill>
                  <a:srgbClr val="FF5722"/>
                </a:solidFill>
                <a:latin typeface="Inter ExtraBold" pitchFamily="34" charset="0"/>
                <a:ea typeface="Inter ExtraBold" pitchFamily="34" charset="-122"/>
                <a:cs typeface="Inter ExtraBold" pitchFamily="34" charset="-120"/>
              </a:rPr>
              <a:t>RECHARTS</a:t>
            </a:r>
            <a:endParaRPr lang="en-US" sz="600" dirty="0"/>
          </a:p>
        </p:txBody>
      </p:sp>
      <p:sp>
        <p:nvSpPr>
          <p:cNvPr id="29" name="Shape 21"/>
          <p:cNvSpPr/>
          <p:nvPr/>
        </p:nvSpPr>
        <p:spPr>
          <a:xfrm>
            <a:off x="3309928" y="3262908"/>
            <a:ext cx="2524116" cy="1800225"/>
          </a:xfrm>
          <a:prstGeom prst="rect">
            <a:avLst/>
          </a:prstGeom>
          <a:solidFill>
            <a:srgbClr val="FFFFFF">
              <a:alpha val="3000"/>
            </a:srgbClr>
          </a:solidFill>
          <a:ln w="9144">
            <a:solidFill>
              <a:srgbClr val="FFFFFF">
                <a:alpha val="10000"/>
              </a:srgbClr>
            </a:solidFill>
            <a:prstDash val="solid"/>
          </a:ln>
        </p:spPr>
      </p:sp>
      <p:pic>
        <p:nvPicPr>
          <p:cNvPr id="30" name="Image 5" descr="preencoded.png">    </p:cNvPr>
          <p:cNvPicPr>
            <a:picLocks noChangeAspect="1"/>
          </p:cNvPicPr>
          <p:nvPr/>
        </p:nvPicPr>
        <p:blipFill>
          <a:blip r:embed="rId6"/>
          <a:stretch>
            <a:fillRect/>
          </a:stretch>
        </p:blipFill>
        <p:spPr>
          <a:xfrm>
            <a:off x="3524241" y="3496866"/>
            <a:ext cx="150019" cy="200025"/>
          </a:xfrm>
          <a:prstGeom prst="rect">
            <a:avLst/>
          </a:prstGeom>
        </p:spPr>
      </p:pic>
      <p:sp>
        <p:nvSpPr>
          <p:cNvPr id="31" name="Text 22"/>
          <p:cNvSpPr/>
          <p:nvPr/>
        </p:nvSpPr>
        <p:spPr>
          <a:xfrm>
            <a:off x="3524241" y="3862983"/>
            <a:ext cx="2095491"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ExtraBold" pitchFamily="34" charset="0"/>
                <a:ea typeface="Inter ExtraBold" pitchFamily="34" charset="-122"/>
                <a:cs typeface="Inter ExtraBold" pitchFamily="34" charset="-120"/>
              </a:rPr>
              <a:t>Seamless Export</a:t>
            </a:r>
            <a:endParaRPr lang="en-US" sz="1200" dirty="0"/>
          </a:p>
        </p:txBody>
      </p:sp>
      <p:sp>
        <p:nvSpPr>
          <p:cNvPr id="32" name="Text 23"/>
          <p:cNvSpPr/>
          <p:nvPr/>
        </p:nvSpPr>
        <p:spPr>
          <a:xfrm>
            <a:off x="3524241" y="4155877"/>
            <a:ext cx="2095491"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CA3AF"/>
                </a:solidFill>
                <a:latin typeface="Inter" pitchFamily="34" charset="0"/>
                <a:ea typeface="Inter" pitchFamily="34" charset="-122"/>
                <a:cs typeface="Inter" pitchFamily="34" charset="-120"/>
              </a:rPr>
              <a:t>One-click generation of styled Excel reports for administrative use.</a:t>
            </a:r>
            <a:endParaRPr lang="en-US" sz="850" dirty="0"/>
          </a:p>
        </p:txBody>
      </p:sp>
      <p:sp>
        <p:nvSpPr>
          <p:cNvPr id="33" name="Shape 24"/>
          <p:cNvSpPr/>
          <p:nvPr/>
        </p:nvSpPr>
        <p:spPr>
          <a:xfrm>
            <a:off x="3524241" y="4605933"/>
            <a:ext cx="2095491" cy="200025"/>
          </a:xfrm>
          <a:prstGeom prst="rect">
            <a:avLst/>
          </a:prstGeom>
          <a:solidFill>
            <a:srgbClr val="FF5722">
              <a:alpha val="10000"/>
            </a:srgbClr>
          </a:solidFill>
          <a:ln/>
        </p:spPr>
      </p:sp>
      <p:sp>
        <p:nvSpPr>
          <p:cNvPr id="34" name="Text 25"/>
          <p:cNvSpPr/>
          <p:nvPr/>
        </p:nvSpPr>
        <p:spPr>
          <a:xfrm>
            <a:off x="3524241" y="4605933"/>
            <a:ext cx="2095491" cy="200025"/>
          </a:xfrm>
          <a:prstGeom prst="rect">
            <a:avLst/>
          </a:prstGeom>
          <a:noFill/>
          <a:ln/>
        </p:spPr>
        <p:txBody>
          <a:bodyPr wrap="square" lIns="85090" tIns="34036" rIns="85090" bIns="0" rtlCol="0" anchor="t">
            <a:spAutoFit/>
          </a:bodyPr>
          <a:lstStyle/>
          <a:p>
            <a:pPr algn="l" indent="0" marL="0">
              <a:buNone/>
            </a:pPr>
            <a:r>
              <a:rPr lang="en-US" sz="600" b="1" spc="1" kern="0" dirty="0">
                <a:solidFill>
                  <a:srgbClr val="FF5722"/>
                </a:solidFill>
                <a:latin typeface="Inter ExtraBold" pitchFamily="34" charset="0"/>
                <a:ea typeface="Inter ExtraBold" pitchFamily="34" charset="-122"/>
                <a:cs typeface="Inter ExtraBold" pitchFamily="34" charset="-120"/>
              </a:rPr>
              <a:t>OPENPYXL</a:t>
            </a:r>
            <a:endParaRPr lang="en-US" sz="600" dirty="0"/>
          </a:p>
        </p:txBody>
      </p:sp>
      <p:sp>
        <p:nvSpPr>
          <p:cNvPr id="35" name="Shape 26"/>
          <p:cNvSpPr/>
          <p:nvPr/>
        </p:nvSpPr>
        <p:spPr>
          <a:xfrm>
            <a:off x="6048356" y="3262908"/>
            <a:ext cx="2524144" cy="1800225"/>
          </a:xfrm>
          <a:prstGeom prst="rect">
            <a:avLst/>
          </a:prstGeom>
          <a:solidFill>
            <a:srgbClr val="FFFFFF">
              <a:alpha val="3000"/>
            </a:srgbClr>
          </a:solidFill>
          <a:ln w="9144">
            <a:solidFill>
              <a:srgbClr val="FFFFFF">
                <a:alpha val="10000"/>
              </a:srgbClr>
            </a:solidFill>
            <a:prstDash val="solid"/>
          </a:ln>
        </p:spPr>
      </p:sp>
      <p:pic>
        <p:nvPicPr>
          <p:cNvPr id="36" name="Image 6" descr="preencoded.png">    </p:cNvPr>
          <p:cNvPicPr>
            <a:picLocks noChangeAspect="1"/>
          </p:cNvPicPr>
          <p:nvPr/>
        </p:nvPicPr>
        <p:blipFill>
          <a:blip r:embed="rId7"/>
          <a:stretch>
            <a:fillRect/>
          </a:stretch>
        </p:blipFill>
        <p:spPr>
          <a:xfrm>
            <a:off x="6262669" y="3496866"/>
            <a:ext cx="150019" cy="200025"/>
          </a:xfrm>
          <a:prstGeom prst="rect">
            <a:avLst/>
          </a:prstGeom>
        </p:spPr>
      </p:pic>
      <p:sp>
        <p:nvSpPr>
          <p:cNvPr id="37" name="Text 27"/>
          <p:cNvSpPr/>
          <p:nvPr/>
        </p:nvSpPr>
        <p:spPr>
          <a:xfrm>
            <a:off x="6262669" y="3862983"/>
            <a:ext cx="2095519" cy="207169"/>
          </a:xfrm>
          <a:prstGeom prst="rect">
            <a:avLst/>
          </a:prstGeom>
          <a:noFill/>
          <a:ln/>
        </p:spPr>
        <p:txBody>
          <a:bodyPr wrap="square" lIns="0" tIns="0" rIns="0" bIns="0" rtlCol="0" anchor="t">
            <a:spAutoFit/>
          </a:bodyPr>
          <a:lstStyle/>
          <a:p>
            <a:pPr algn="l" indent="0" marL="0">
              <a:buNone/>
            </a:pPr>
            <a:r>
              <a:rPr lang="en-US" sz="1200" b="1" dirty="0">
                <a:solidFill>
                  <a:srgbClr val="FFFFFF"/>
                </a:solidFill>
                <a:latin typeface="Inter ExtraBold" pitchFamily="34" charset="0"/>
                <a:ea typeface="Inter ExtraBold" pitchFamily="34" charset="-122"/>
                <a:cs typeface="Inter ExtraBold" pitchFamily="34" charset="-120"/>
              </a:rPr>
              <a:t>Phone as Webcam</a:t>
            </a:r>
            <a:endParaRPr lang="en-US" sz="1200" dirty="0"/>
          </a:p>
        </p:txBody>
      </p:sp>
      <p:sp>
        <p:nvSpPr>
          <p:cNvPr id="38" name="Text 28"/>
          <p:cNvSpPr/>
          <p:nvPr/>
        </p:nvSpPr>
        <p:spPr>
          <a:xfrm>
            <a:off x="6262669" y="4155877"/>
            <a:ext cx="2095519"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9CA3AF"/>
                </a:solidFill>
                <a:latin typeface="Inter" pitchFamily="34" charset="0"/>
                <a:ea typeface="Inter" pitchFamily="34" charset="-122"/>
                <a:cs typeface="Inter" pitchFamily="34" charset="-120"/>
              </a:rPr>
              <a:t>Support for DroidCam/Iriun via USB for flexible hardware setups.</a:t>
            </a:r>
            <a:endParaRPr lang="en-US" sz="850" dirty="0"/>
          </a:p>
        </p:txBody>
      </p:sp>
      <p:sp>
        <p:nvSpPr>
          <p:cNvPr id="39" name="Shape 29"/>
          <p:cNvSpPr/>
          <p:nvPr/>
        </p:nvSpPr>
        <p:spPr>
          <a:xfrm>
            <a:off x="6262669" y="4605933"/>
            <a:ext cx="2095519" cy="200025"/>
          </a:xfrm>
          <a:prstGeom prst="rect">
            <a:avLst/>
          </a:prstGeom>
          <a:solidFill>
            <a:srgbClr val="FF5722">
              <a:alpha val="10000"/>
            </a:srgbClr>
          </a:solidFill>
          <a:ln/>
        </p:spPr>
      </p:sp>
      <p:sp>
        <p:nvSpPr>
          <p:cNvPr id="40" name="Text 30"/>
          <p:cNvSpPr/>
          <p:nvPr/>
        </p:nvSpPr>
        <p:spPr>
          <a:xfrm>
            <a:off x="6262669" y="4605933"/>
            <a:ext cx="2095519" cy="200025"/>
          </a:xfrm>
          <a:prstGeom prst="rect">
            <a:avLst/>
          </a:prstGeom>
          <a:noFill/>
          <a:ln/>
        </p:spPr>
        <p:txBody>
          <a:bodyPr wrap="square" lIns="85090" tIns="34036" rIns="85090" bIns="0" rtlCol="0" anchor="t">
            <a:spAutoFit/>
          </a:bodyPr>
          <a:lstStyle/>
          <a:p>
            <a:pPr algn="l" indent="0" marL="0">
              <a:buNone/>
            </a:pPr>
            <a:r>
              <a:rPr lang="en-US" sz="600" b="1" spc="1" kern="0" dirty="0">
                <a:solidFill>
                  <a:srgbClr val="FF5722"/>
                </a:solidFill>
                <a:latin typeface="Inter ExtraBold" pitchFamily="34" charset="0"/>
                <a:ea typeface="Inter ExtraBold" pitchFamily="34" charset="-122"/>
                <a:cs typeface="Inter ExtraBold" pitchFamily="34" charset="-120"/>
              </a:rPr>
              <a:t>IP CAMERA</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492919"/>
            <a:ext cx="8572500" cy="483989"/>
          </a:xfrm>
          <a:prstGeom prst="rect">
            <a:avLst/>
          </a:prstGeom>
          <a:noFill/>
          <a:ln/>
        </p:spPr>
        <p:txBody>
          <a:bodyPr wrap="square" lIns="0" tIns="0" rIns="0" bIns="0" rtlCol="0" anchor="t">
            <a:spAutoFit/>
          </a:bodyPr>
          <a:lstStyle/>
          <a:p>
            <a:pPr algn="l" indent="0" marL="0">
              <a:buNone/>
            </a:pPr>
            <a:r>
              <a:rPr lang="en-US" sz="2850" b="1" dirty="0">
                <a:solidFill>
                  <a:srgbClr val="FFFFFF"/>
                </a:solidFill>
                <a:latin typeface="Inter ExtraBold" pitchFamily="34" charset="0"/>
                <a:ea typeface="Inter ExtraBold" pitchFamily="34" charset="-122"/>
                <a:cs typeface="Inter ExtraBold" pitchFamily="34" charset="-120"/>
              </a:rPr>
              <a:t>Technology Stack</a:t>
            </a:r>
            <a:endParaRPr lang="en-US" sz="2850" dirty="0"/>
          </a:p>
        </p:txBody>
      </p:sp>
      <p:sp>
        <p:nvSpPr>
          <p:cNvPr id="5" name="Shape 1"/>
          <p:cNvSpPr/>
          <p:nvPr/>
        </p:nvSpPr>
        <p:spPr>
          <a:xfrm>
            <a:off x="571500" y="1262658"/>
            <a:ext cx="8001000" cy="1014413"/>
          </a:xfrm>
          <a:prstGeom prst="rect">
            <a:avLst/>
          </a:prstGeom>
          <a:solidFill>
            <a:srgbClr val="FFFFFF">
              <a:alpha val="3000"/>
            </a:srgbClr>
          </a:solidFill>
          <a:ln w="9144">
            <a:solidFill>
              <a:srgbClr val="FFFFFF">
                <a:alpha val="10000"/>
              </a:srgbClr>
            </a:solidFill>
            <a:prstDash val="solid"/>
          </a:ln>
        </p:spPr>
      </p:sp>
      <p:sp>
        <p:nvSpPr>
          <p:cNvPr id="6" name="Shape 2"/>
          <p:cNvSpPr/>
          <p:nvPr/>
        </p:nvSpPr>
        <p:spPr>
          <a:xfrm>
            <a:off x="571500" y="1262658"/>
            <a:ext cx="1443038" cy="1000125"/>
          </a:xfrm>
          <a:prstGeom prst="rect">
            <a:avLst/>
          </a:prstGeom>
          <a:solidFill>
            <a:srgbClr val="FF5722">
              <a:alpha val="10000"/>
            </a:srgbClr>
          </a:solidFill>
          <a:ln/>
        </p:spPr>
      </p:sp>
      <p:sp>
        <p:nvSpPr>
          <p:cNvPr id="7" name="Shape 3"/>
          <p:cNvSpPr/>
          <p:nvPr/>
        </p:nvSpPr>
        <p:spPr>
          <a:xfrm>
            <a:off x="2000250" y="1262658"/>
            <a:ext cx="14288" cy="1000125"/>
          </a:xfrm>
          <a:prstGeom prst="rect">
            <a:avLst/>
          </a:prstGeom>
          <a:solidFill>
            <a:srgbClr val="FF5722"/>
          </a:solidFill>
          <a:ln/>
        </p:spPr>
      </p:sp>
      <p:pic>
        <p:nvPicPr>
          <p:cNvPr id="8" name="Image 1" descr="preencoded.png">    </p:cNvPr>
          <p:cNvPicPr>
            <a:picLocks noChangeAspect="1"/>
          </p:cNvPicPr>
          <p:nvPr/>
        </p:nvPicPr>
        <p:blipFill>
          <a:blip r:embed="rId2"/>
          <a:stretch>
            <a:fillRect/>
          </a:stretch>
        </p:blipFill>
        <p:spPr>
          <a:xfrm>
            <a:off x="1143000" y="1606451"/>
            <a:ext cx="285750" cy="228600"/>
          </a:xfrm>
          <a:prstGeom prst="rect">
            <a:avLst/>
          </a:prstGeom>
        </p:spPr>
      </p:pic>
      <p:sp>
        <p:nvSpPr>
          <p:cNvPr id="9" name="Text 4"/>
          <p:cNvSpPr/>
          <p:nvPr/>
        </p:nvSpPr>
        <p:spPr>
          <a:xfrm>
            <a:off x="899220" y="1906488"/>
            <a:ext cx="773311" cy="155377"/>
          </a:xfrm>
          <a:prstGeom prst="rect">
            <a:avLst/>
          </a:prstGeom>
          <a:noFill/>
          <a:ln/>
        </p:spPr>
        <p:txBody>
          <a:bodyPr wrap="none" lIns="0" tIns="0" rIns="0" bIns="0" rtlCol="0" anchor="t">
            <a:spAutoFit/>
          </a:bodyPr>
          <a:lstStyle/>
          <a:p>
            <a:pPr algn="l" indent="0" marL="0">
              <a:buNone/>
            </a:pPr>
            <a:r>
              <a:rPr lang="en-US" sz="900" b="1" spc="1" kern="0" dirty="0">
                <a:solidFill>
                  <a:srgbClr val="FFFFFF"/>
                </a:solidFill>
                <a:latin typeface="Inter ExtraBold" pitchFamily="34" charset="0"/>
                <a:ea typeface="Inter ExtraBold" pitchFamily="34" charset="-122"/>
                <a:cs typeface="Inter ExtraBold" pitchFamily="34" charset="-120"/>
              </a:rPr>
              <a:t>FRONTEND</a:t>
            </a:r>
            <a:endParaRPr lang="en-US" sz="900" dirty="0"/>
          </a:p>
        </p:txBody>
      </p:sp>
      <p:sp>
        <p:nvSpPr>
          <p:cNvPr id="10" name="Shape 5"/>
          <p:cNvSpPr/>
          <p:nvPr/>
        </p:nvSpPr>
        <p:spPr>
          <a:xfrm>
            <a:off x="3103345" y="1367135"/>
            <a:ext cx="371475" cy="371475"/>
          </a:xfrm>
          <a:prstGeom prst="rect">
            <a:avLst/>
          </a:prstGeom>
          <a:solidFill>
            <a:srgbClr val="FFFFFF">
              <a:alpha val="5000"/>
            </a:srgbClr>
          </a:solidFill>
          <a:ln w="9144">
            <a:solidFill>
              <a:srgbClr val="FFFFFF">
                <a:alpha val="20000"/>
              </a:srgbClr>
            </a:solidFill>
            <a:prstDash val="solid"/>
          </a:ln>
        </p:spPr>
      </p:sp>
      <p:pic>
        <p:nvPicPr>
          <p:cNvPr id="11" name="Image 2" descr="preencoded.png">    </p:cNvPr>
          <p:cNvPicPr>
            <a:picLocks noChangeAspect="1"/>
          </p:cNvPicPr>
          <p:nvPr/>
        </p:nvPicPr>
        <p:blipFill>
          <a:blip r:embed="rId3"/>
          <a:stretch>
            <a:fillRect/>
          </a:stretch>
        </p:blipFill>
        <p:spPr>
          <a:xfrm>
            <a:off x="3189070" y="1452860"/>
            <a:ext cx="200025" cy="200025"/>
          </a:xfrm>
          <a:prstGeom prst="rect">
            <a:avLst/>
          </a:prstGeom>
        </p:spPr>
      </p:pic>
      <p:sp>
        <p:nvSpPr>
          <p:cNvPr id="12" name="Text 6"/>
          <p:cNvSpPr/>
          <p:nvPr/>
        </p:nvSpPr>
        <p:spPr>
          <a:xfrm>
            <a:off x="3021192" y="1802904"/>
            <a:ext cx="535781"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React 19</a:t>
            </a:r>
            <a:endParaRPr lang="en-US" sz="900" dirty="0"/>
          </a:p>
        </p:txBody>
      </p:sp>
      <p:sp>
        <p:nvSpPr>
          <p:cNvPr id="13" name="Text 7"/>
          <p:cNvSpPr/>
          <p:nvPr/>
        </p:nvSpPr>
        <p:spPr>
          <a:xfrm>
            <a:off x="2959577" y="2029718"/>
            <a:ext cx="659011"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UI Framework</a:t>
            </a:r>
            <a:endParaRPr lang="en-US" sz="750" dirty="0"/>
          </a:p>
        </p:txBody>
      </p:sp>
      <p:sp>
        <p:nvSpPr>
          <p:cNvPr id="14" name="Shape 8"/>
          <p:cNvSpPr/>
          <p:nvPr/>
        </p:nvSpPr>
        <p:spPr>
          <a:xfrm>
            <a:off x="5013992" y="1367135"/>
            <a:ext cx="371475" cy="371475"/>
          </a:xfrm>
          <a:prstGeom prst="rect">
            <a:avLst/>
          </a:prstGeom>
          <a:solidFill>
            <a:srgbClr val="FFFFFF">
              <a:alpha val="5000"/>
            </a:srgbClr>
          </a:solidFill>
          <a:ln w="9144">
            <a:solidFill>
              <a:srgbClr val="FFFFFF">
                <a:alpha val="20000"/>
              </a:srgbClr>
            </a:solidFill>
            <a:prstDash val="solid"/>
          </a:ln>
        </p:spPr>
      </p:sp>
      <p:pic>
        <p:nvPicPr>
          <p:cNvPr id="15" name="Image 3" descr="preencoded.png">    </p:cNvPr>
          <p:cNvPicPr>
            <a:picLocks noChangeAspect="1"/>
          </p:cNvPicPr>
          <p:nvPr/>
        </p:nvPicPr>
        <p:blipFill>
          <a:blip r:embed="rId4"/>
          <a:stretch>
            <a:fillRect/>
          </a:stretch>
        </p:blipFill>
        <p:spPr>
          <a:xfrm>
            <a:off x="5124720" y="1452860"/>
            <a:ext cx="150019" cy="200025"/>
          </a:xfrm>
          <a:prstGeom prst="rect">
            <a:avLst/>
          </a:prstGeom>
        </p:spPr>
      </p:pic>
      <p:sp>
        <p:nvSpPr>
          <p:cNvPr id="16" name="Text 9"/>
          <p:cNvSpPr/>
          <p:nvPr/>
        </p:nvSpPr>
        <p:spPr>
          <a:xfrm>
            <a:off x="5070249" y="1802904"/>
            <a:ext cx="258961"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Vite</a:t>
            </a:r>
            <a:endParaRPr lang="en-US" sz="900" dirty="0"/>
          </a:p>
        </p:txBody>
      </p:sp>
      <p:sp>
        <p:nvSpPr>
          <p:cNvPr id="17" name="Text 10"/>
          <p:cNvSpPr/>
          <p:nvPr/>
        </p:nvSpPr>
        <p:spPr>
          <a:xfrm>
            <a:off x="4965771" y="2029718"/>
            <a:ext cx="467916"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Build Tool</a:t>
            </a:r>
            <a:endParaRPr lang="en-US" sz="750" dirty="0"/>
          </a:p>
        </p:txBody>
      </p:sp>
      <p:sp>
        <p:nvSpPr>
          <p:cNvPr id="18" name="Shape 11"/>
          <p:cNvSpPr/>
          <p:nvPr/>
        </p:nvSpPr>
        <p:spPr>
          <a:xfrm>
            <a:off x="7011256" y="1367135"/>
            <a:ext cx="371475" cy="371475"/>
          </a:xfrm>
          <a:prstGeom prst="rect">
            <a:avLst/>
          </a:prstGeom>
          <a:solidFill>
            <a:srgbClr val="FFFFFF">
              <a:alpha val="5000"/>
            </a:srgbClr>
          </a:solidFill>
          <a:ln w="9144">
            <a:solidFill>
              <a:srgbClr val="FFFFFF">
                <a:alpha val="20000"/>
              </a:srgbClr>
            </a:solidFill>
            <a:prstDash val="solid"/>
          </a:ln>
        </p:spPr>
      </p:sp>
      <p:pic>
        <p:nvPicPr>
          <p:cNvPr id="19" name="Image 4" descr="preencoded.png">    </p:cNvPr>
          <p:cNvPicPr>
            <a:picLocks noChangeAspect="1"/>
          </p:cNvPicPr>
          <p:nvPr/>
        </p:nvPicPr>
        <p:blipFill>
          <a:blip r:embed="rId5"/>
          <a:stretch>
            <a:fillRect/>
          </a:stretch>
        </p:blipFill>
        <p:spPr>
          <a:xfrm>
            <a:off x="7096981" y="1452860"/>
            <a:ext cx="200025" cy="200025"/>
          </a:xfrm>
          <a:prstGeom prst="rect">
            <a:avLst/>
          </a:prstGeom>
        </p:spPr>
      </p:pic>
      <p:sp>
        <p:nvSpPr>
          <p:cNvPr id="20" name="Text 12"/>
          <p:cNvSpPr/>
          <p:nvPr/>
        </p:nvSpPr>
        <p:spPr>
          <a:xfrm>
            <a:off x="6780870" y="1802904"/>
            <a:ext cx="832247"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Tailwind CSS</a:t>
            </a:r>
            <a:endParaRPr lang="en-US" sz="900" dirty="0"/>
          </a:p>
        </p:txBody>
      </p:sp>
      <p:sp>
        <p:nvSpPr>
          <p:cNvPr id="21" name="Text 13"/>
          <p:cNvSpPr/>
          <p:nvPr/>
        </p:nvSpPr>
        <p:spPr>
          <a:xfrm>
            <a:off x="7035366" y="2029718"/>
            <a:ext cx="323255"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Styling</a:t>
            </a:r>
            <a:endParaRPr lang="en-US" sz="750" dirty="0"/>
          </a:p>
        </p:txBody>
      </p:sp>
      <p:sp>
        <p:nvSpPr>
          <p:cNvPr id="22" name="Shape 14"/>
          <p:cNvSpPr/>
          <p:nvPr/>
        </p:nvSpPr>
        <p:spPr>
          <a:xfrm>
            <a:off x="571500" y="2405658"/>
            <a:ext cx="8001000" cy="1014413"/>
          </a:xfrm>
          <a:prstGeom prst="rect">
            <a:avLst/>
          </a:prstGeom>
          <a:solidFill>
            <a:srgbClr val="FFFFFF">
              <a:alpha val="3000"/>
            </a:srgbClr>
          </a:solidFill>
          <a:ln w="9144">
            <a:solidFill>
              <a:srgbClr val="FFFFFF">
                <a:alpha val="10000"/>
              </a:srgbClr>
            </a:solidFill>
            <a:prstDash val="solid"/>
          </a:ln>
        </p:spPr>
      </p:sp>
      <p:sp>
        <p:nvSpPr>
          <p:cNvPr id="23" name="Shape 15"/>
          <p:cNvSpPr/>
          <p:nvPr/>
        </p:nvSpPr>
        <p:spPr>
          <a:xfrm>
            <a:off x="571500" y="2405658"/>
            <a:ext cx="1443038" cy="1000125"/>
          </a:xfrm>
          <a:prstGeom prst="rect">
            <a:avLst/>
          </a:prstGeom>
          <a:solidFill>
            <a:srgbClr val="FF5722">
              <a:alpha val="10000"/>
            </a:srgbClr>
          </a:solidFill>
          <a:ln/>
        </p:spPr>
      </p:sp>
      <p:sp>
        <p:nvSpPr>
          <p:cNvPr id="24" name="Shape 16"/>
          <p:cNvSpPr/>
          <p:nvPr/>
        </p:nvSpPr>
        <p:spPr>
          <a:xfrm>
            <a:off x="2000250" y="2405658"/>
            <a:ext cx="14288" cy="1000125"/>
          </a:xfrm>
          <a:prstGeom prst="rect">
            <a:avLst/>
          </a:prstGeom>
          <a:solidFill>
            <a:srgbClr val="FF5722"/>
          </a:solidFill>
          <a:ln/>
        </p:spPr>
      </p:sp>
      <p:pic>
        <p:nvPicPr>
          <p:cNvPr id="25" name="Image 5" descr="preencoded.png">    </p:cNvPr>
          <p:cNvPicPr>
            <a:picLocks noChangeAspect="1"/>
          </p:cNvPicPr>
          <p:nvPr/>
        </p:nvPicPr>
        <p:blipFill>
          <a:blip r:embed="rId6"/>
          <a:stretch>
            <a:fillRect/>
          </a:stretch>
        </p:blipFill>
        <p:spPr>
          <a:xfrm>
            <a:off x="1171575" y="2749451"/>
            <a:ext cx="228600" cy="228600"/>
          </a:xfrm>
          <a:prstGeom prst="rect">
            <a:avLst/>
          </a:prstGeom>
        </p:spPr>
      </p:pic>
      <p:sp>
        <p:nvSpPr>
          <p:cNvPr id="26" name="Text 17"/>
          <p:cNvSpPr/>
          <p:nvPr/>
        </p:nvSpPr>
        <p:spPr>
          <a:xfrm>
            <a:off x="941189" y="3049488"/>
            <a:ext cx="689372" cy="155377"/>
          </a:xfrm>
          <a:prstGeom prst="rect">
            <a:avLst/>
          </a:prstGeom>
          <a:noFill/>
          <a:ln/>
        </p:spPr>
        <p:txBody>
          <a:bodyPr wrap="none" lIns="0" tIns="0" rIns="0" bIns="0" rtlCol="0" anchor="t">
            <a:spAutoFit/>
          </a:bodyPr>
          <a:lstStyle/>
          <a:p>
            <a:pPr algn="l" indent="0" marL="0">
              <a:buNone/>
            </a:pPr>
            <a:r>
              <a:rPr lang="en-US" sz="900" b="1" spc="1" kern="0" dirty="0">
                <a:solidFill>
                  <a:srgbClr val="FFFFFF"/>
                </a:solidFill>
                <a:latin typeface="Inter ExtraBold" pitchFamily="34" charset="0"/>
                <a:ea typeface="Inter ExtraBold" pitchFamily="34" charset="-122"/>
                <a:cs typeface="Inter ExtraBold" pitchFamily="34" charset="-120"/>
              </a:rPr>
              <a:t>BACKEND</a:t>
            </a:r>
            <a:endParaRPr lang="en-US" sz="900" dirty="0"/>
          </a:p>
        </p:txBody>
      </p:sp>
      <p:sp>
        <p:nvSpPr>
          <p:cNvPr id="27" name="Shape 18"/>
          <p:cNvSpPr/>
          <p:nvPr/>
        </p:nvSpPr>
        <p:spPr>
          <a:xfrm>
            <a:off x="3128349" y="2510135"/>
            <a:ext cx="371475" cy="371475"/>
          </a:xfrm>
          <a:prstGeom prst="rect">
            <a:avLst/>
          </a:prstGeom>
          <a:solidFill>
            <a:srgbClr val="FFFFFF">
              <a:alpha val="5000"/>
            </a:srgbClr>
          </a:solidFill>
          <a:ln w="9144">
            <a:solidFill>
              <a:srgbClr val="FFFFFF">
                <a:alpha val="20000"/>
              </a:srgbClr>
            </a:solidFill>
            <a:prstDash val="solid"/>
          </a:ln>
        </p:spPr>
      </p:sp>
      <p:pic>
        <p:nvPicPr>
          <p:cNvPr id="28" name="Image 6" descr="preencoded.png">    </p:cNvPr>
          <p:cNvPicPr>
            <a:picLocks noChangeAspect="1"/>
          </p:cNvPicPr>
          <p:nvPr/>
        </p:nvPicPr>
        <p:blipFill>
          <a:blip r:embed="rId7"/>
          <a:stretch>
            <a:fillRect/>
          </a:stretch>
        </p:blipFill>
        <p:spPr>
          <a:xfrm>
            <a:off x="3226575" y="2595860"/>
            <a:ext cx="175022" cy="200025"/>
          </a:xfrm>
          <a:prstGeom prst="rect">
            <a:avLst/>
          </a:prstGeom>
        </p:spPr>
      </p:pic>
      <p:sp>
        <p:nvSpPr>
          <p:cNvPr id="29" name="Text 19"/>
          <p:cNvSpPr/>
          <p:nvPr/>
        </p:nvSpPr>
        <p:spPr>
          <a:xfrm>
            <a:off x="3027443" y="2945904"/>
            <a:ext cx="573286"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Python 3</a:t>
            </a:r>
            <a:endParaRPr lang="en-US" sz="900" dirty="0"/>
          </a:p>
        </p:txBody>
      </p:sp>
      <p:sp>
        <p:nvSpPr>
          <p:cNvPr id="30" name="Text 20"/>
          <p:cNvSpPr/>
          <p:nvPr/>
        </p:nvSpPr>
        <p:spPr>
          <a:xfrm>
            <a:off x="3055125" y="3172718"/>
            <a:ext cx="517922"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Core Logic</a:t>
            </a:r>
            <a:endParaRPr lang="en-US" sz="750" dirty="0"/>
          </a:p>
        </p:txBody>
      </p:sp>
      <p:sp>
        <p:nvSpPr>
          <p:cNvPr id="31" name="Shape 21"/>
          <p:cNvSpPr/>
          <p:nvPr/>
        </p:nvSpPr>
        <p:spPr>
          <a:xfrm>
            <a:off x="5119362" y="2510135"/>
            <a:ext cx="371475" cy="371475"/>
          </a:xfrm>
          <a:prstGeom prst="rect">
            <a:avLst/>
          </a:prstGeom>
          <a:solidFill>
            <a:srgbClr val="FFFFFF">
              <a:alpha val="5000"/>
            </a:srgbClr>
          </a:solidFill>
          <a:ln w="9144">
            <a:solidFill>
              <a:srgbClr val="FFFFFF">
                <a:alpha val="20000"/>
              </a:srgbClr>
            </a:solidFill>
            <a:prstDash val="solid"/>
          </a:ln>
        </p:spPr>
      </p:sp>
      <p:pic>
        <p:nvPicPr>
          <p:cNvPr id="32" name="Image 7" descr="preencoded.png">    </p:cNvPr>
          <p:cNvPicPr>
            <a:picLocks noChangeAspect="1"/>
          </p:cNvPicPr>
          <p:nvPr/>
        </p:nvPicPr>
        <p:blipFill>
          <a:blip r:embed="rId8"/>
          <a:stretch>
            <a:fillRect/>
          </a:stretch>
        </p:blipFill>
        <p:spPr>
          <a:xfrm>
            <a:off x="5205087" y="2595860"/>
            <a:ext cx="200025" cy="200025"/>
          </a:xfrm>
          <a:prstGeom prst="rect">
            <a:avLst/>
          </a:prstGeom>
        </p:spPr>
      </p:pic>
      <p:sp>
        <p:nvSpPr>
          <p:cNvPr id="33" name="Text 22"/>
          <p:cNvSpPr/>
          <p:nvPr/>
        </p:nvSpPr>
        <p:spPr>
          <a:xfrm>
            <a:off x="5137221" y="2945904"/>
            <a:ext cx="335756"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Flask</a:t>
            </a:r>
            <a:endParaRPr lang="en-US" sz="900" dirty="0"/>
          </a:p>
        </p:txBody>
      </p:sp>
      <p:sp>
        <p:nvSpPr>
          <p:cNvPr id="34" name="Text 23"/>
          <p:cNvSpPr/>
          <p:nvPr/>
        </p:nvSpPr>
        <p:spPr>
          <a:xfrm>
            <a:off x="5083643" y="3172718"/>
            <a:ext cx="442913"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REST API</a:t>
            </a:r>
            <a:endParaRPr lang="en-US" sz="750" dirty="0"/>
          </a:p>
        </p:txBody>
      </p:sp>
      <p:sp>
        <p:nvSpPr>
          <p:cNvPr id="35" name="Shape 24"/>
          <p:cNvSpPr/>
          <p:nvPr/>
        </p:nvSpPr>
        <p:spPr>
          <a:xfrm>
            <a:off x="7091623" y="2510135"/>
            <a:ext cx="371475" cy="371475"/>
          </a:xfrm>
          <a:prstGeom prst="rect">
            <a:avLst/>
          </a:prstGeom>
          <a:solidFill>
            <a:srgbClr val="FFFFFF">
              <a:alpha val="5000"/>
            </a:srgbClr>
          </a:solidFill>
          <a:ln w="9144">
            <a:solidFill>
              <a:srgbClr val="FFFFFF">
                <a:alpha val="20000"/>
              </a:srgbClr>
            </a:solidFill>
            <a:prstDash val="solid"/>
          </a:ln>
        </p:spPr>
      </p:sp>
      <p:pic>
        <p:nvPicPr>
          <p:cNvPr id="36" name="Image 8" descr="preencoded.png">    </p:cNvPr>
          <p:cNvPicPr>
            <a:picLocks noChangeAspect="1"/>
          </p:cNvPicPr>
          <p:nvPr/>
        </p:nvPicPr>
        <p:blipFill>
          <a:blip r:embed="rId9"/>
          <a:stretch>
            <a:fillRect/>
          </a:stretch>
        </p:blipFill>
        <p:spPr>
          <a:xfrm>
            <a:off x="7164846" y="2595860"/>
            <a:ext cx="225028" cy="200025"/>
          </a:xfrm>
          <a:prstGeom prst="rect">
            <a:avLst/>
          </a:prstGeom>
        </p:spPr>
      </p:pic>
      <p:sp>
        <p:nvSpPr>
          <p:cNvPr id="37" name="Text 25"/>
          <p:cNvSpPr/>
          <p:nvPr/>
        </p:nvSpPr>
        <p:spPr>
          <a:xfrm>
            <a:off x="7009470" y="2945904"/>
            <a:ext cx="535781"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OpenCV</a:t>
            </a:r>
            <a:endParaRPr lang="en-US" sz="900" dirty="0"/>
          </a:p>
        </p:txBody>
      </p:sp>
      <p:sp>
        <p:nvSpPr>
          <p:cNvPr id="38" name="Text 26"/>
          <p:cNvSpPr/>
          <p:nvPr/>
        </p:nvSpPr>
        <p:spPr>
          <a:xfrm>
            <a:off x="7130914" y="3172718"/>
            <a:ext cx="292894"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Vision</a:t>
            </a:r>
            <a:endParaRPr lang="en-US" sz="750" dirty="0"/>
          </a:p>
        </p:txBody>
      </p:sp>
      <p:sp>
        <p:nvSpPr>
          <p:cNvPr id="39" name="Shape 27"/>
          <p:cNvSpPr/>
          <p:nvPr/>
        </p:nvSpPr>
        <p:spPr>
          <a:xfrm>
            <a:off x="571500" y="3548658"/>
            <a:ext cx="8001000" cy="1014413"/>
          </a:xfrm>
          <a:prstGeom prst="rect">
            <a:avLst/>
          </a:prstGeom>
          <a:solidFill>
            <a:srgbClr val="FFFFFF">
              <a:alpha val="3000"/>
            </a:srgbClr>
          </a:solidFill>
          <a:ln w="9144">
            <a:solidFill>
              <a:srgbClr val="FFFFFF">
                <a:alpha val="10000"/>
              </a:srgbClr>
            </a:solidFill>
            <a:prstDash val="solid"/>
          </a:ln>
        </p:spPr>
      </p:sp>
      <p:sp>
        <p:nvSpPr>
          <p:cNvPr id="40" name="Shape 28"/>
          <p:cNvSpPr/>
          <p:nvPr/>
        </p:nvSpPr>
        <p:spPr>
          <a:xfrm>
            <a:off x="571500" y="3548658"/>
            <a:ext cx="1443038" cy="1000125"/>
          </a:xfrm>
          <a:prstGeom prst="rect">
            <a:avLst/>
          </a:prstGeom>
          <a:solidFill>
            <a:srgbClr val="FF5722">
              <a:alpha val="10000"/>
            </a:srgbClr>
          </a:solidFill>
          <a:ln/>
        </p:spPr>
      </p:sp>
      <p:sp>
        <p:nvSpPr>
          <p:cNvPr id="41" name="Shape 29"/>
          <p:cNvSpPr/>
          <p:nvPr/>
        </p:nvSpPr>
        <p:spPr>
          <a:xfrm>
            <a:off x="2000250" y="3548658"/>
            <a:ext cx="14288" cy="1000125"/>
          </a:xfrm>
          <a:prstGeom prst="rect">
            <a:avLst/>
          </a:prstGeom>
          <a:solidFill>
            <a:srgbClr val="FF5722"/>
          </a:solidFill>
          <a:ln/>
        </p:spPr>
      </p:sp>
      <p:pic>
        <p:nvPicPr>
          <p:cNvPr id="42" name="Image 9" descr="preencoded.png">    </p:cNvPr>
          <p:cNvPicPr>
            <a:picLocks noChangeAspect="1"/>
          </p:cNvPicPr>
          <p:nvPr/>
        </p:nvPicPr>
        <p:blipFill>
          <a:blip r:embed="rId10"/>
          <a:stretch>
            <a:fillRect/>
          </a:stretch>
        </p:blipFill>
        <p:spPr>
          <a:xfrm>
            <a:off x="1185863" y="3892451"/>
            <a:ext cx="200025" cy="228600"/>
          </a:xfrm>
          <a:prstGeom prst="rect">
            <a:avLst/>
          </a:prstGeom>
        </p:spPr>
      </p:pic>
      <p:sp>
        <p:nvSpPr>
          <p:cNvPr id="43" name="Text 30"/>
          <p:cNvSpPr/>
          <p:nvPr/>
        </p:nvSpPr>
        <p:spPr>
          <a:xfrm>
            <a:off x="1098352" y="4192488"/>
            <a:ext cx="375047" cy="155377"/>
          </a:xfrm>
          <a:prstGeom prst="rect">
            <a:avLst/>
          </a:prstGeom>
          <a:noFill/>
          <a:ln/>
        </p:spPr>
        <p:txBody>
          <a:bodyPr wrap="none" lIns="0" tIns="0" rIns="0" bIns="0" rtlCol="0" anchor="t">
            <a:spAutoFit/>
          </a:bodyPr>
          <a:lstStyle/>
          <a:p>
            <a:pPr algn="l" indent="0" marL="0">
              <a:buNone/>
            </a:pPr>
            <a:r>
              <a:rPr lang="en-US" sz="900" b="1" spc="1" kern="0" dirty="0">
                <a:solidFill>
                  <a:srgbClr val="FFFFFF"/>
                </a:solidFill>
                <a:latin typeface="Inter ExtraBold" pitchFamily="34" charset="0"/>
                <a:ea typeface="Inter ExtraBold" pitchFamily="34" charset="-122"/>
                <a:cs typeface="Inter ExtraBold" pitchFamily="34" charset="-120"/>
              </a:rPr>
              <a:t>DATA</a:t>
            </a:r>
            <a:endParaRPr lang="en-US" sz="900" dirty="0"/>
          </a:p>
        </p:txBody>
      </p:sp>
      <p:sp>
        <p:nvSpPr>
          <p:cNvPr id="44" name="Shape 31"/>
          <p:cNvSpPr/>
          <p:nvPr/>
        </p:nvSpPr>
        <p:spPr>
          <a:xfrm>
            <a:off x="3037880" y="3653135"/>
            <a:ext cx="371475" cy="371475"/>
          </a:xfrm>
          <a:prstGeom prst="rect">
            <a:avLst/>
          </a:prstGeom>
          <a:solidFill>
            <a:srgbClr val="FFFFFF">
              <a:alpha val="5000"/>
            </a:srgbClr>
          </a:solidFill>
          <a:ln w="9144">
            <a:solidFill>
              <a:srgbClr val="FFFFFF">
                <a:alpha val="20000"/>
              </a:srgbClr>
            </a:solidFill>
            <a:prstDash val="solid"/>
          </a:ln>
        </p:spPr>
      </p:sp>
      <p:pic>
        <p:nvPicPr>
          <p:cNvPr id="45" name="Image 10" descr="preencoded.png">    </p:cNvPr>
          <p:cNvPicPr>
            <a:picLocks noChangeAspect="1"/>
          </p:cNvPicPr>
          <p:nvPr/>
        </p:nvPicPr>
        <p:blipFill>
          <a:blip r:embed="rId11"/>
          <a:stretch>
            <a:fillRect/>
          </a:stretch>
        </p:blipFill>
        <p:spPr>
          <a:xfrm>
            <a:off x="3123605" y="3738860"/>
            <a:ext cx="200025" cy="200025"/>
          </a:xfrm>
          <a:prstGeom prst="rect">
            <a:avLst/>
          </a:prstGeom>
        </p:spPr>
      </p:pic>
      <p:sp>
        <p:nvSpPr>
          <p:cNvPr id="46" name="Text 32"/>
          <p:cNvSpPr/>
          <p:nvPr/>
        </p:nvSpPr>
        <p:spPr>
          <a:xfrm>
            <a:off x="3013770" y="4088904"/>
            <a:ext cx="419695"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SQLite</a:t>
            </a:r>
            <a:endParaRPr lang="en-US" sz="900" dirty="0"/>
          </a:p>
        </p:txBody>
      </p:sp>
      <p:sp>
        <p:nvSpPr>
          <p:cNvPr id="47" name="Text 33"/>
          <p:cNvSpPr/>
          <p:nvPr/>
        </p:nvSpPr>
        <p:spPr>
          <a:xfrm>
            <a:off x="2911078" y="4315718"/>
            <a:ext cx="625078"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Relational DB</a:t>
            </a:r>
            <a:endParaRPr lang="en-US" sz="750" dirty="0"/>
          </a:p>
        </p:txBody>
      </p:sp>
      <p:sp>
        <p:nvSpPr>
          <p:cNvPr id="48" name="Shape 34"/>
          <p:cNvSpPr/>
          <p:nvPr/>
        </p:nvSpPr>
        <p:spPr>
          <a:xfrm>
            <a:off x="4977408" y="3653135"/>
            <a:ext cx="371475" cy="371475"/>
          </a:xfrm>
          <a:prstGeom prst="rect">
            <a:avLst/>
          </a:prstGeom>
          <a:solidFill>
            <a:srgbClr val="FFFFFF">
              <a:alpha val="5000"/>
            </a:srgbClr>
          </a:solidFill>
          <a:ln w="9144">
            <a:solidFill>
              <a:srgbClr val="FFFFFF">
                <a:alpha val="20000"/>
              </a:srgbClr>
            </a:solidFill>
            <a:prstDash val="solid"/>
          </a:ln>
        </p:spPr>
      </p:sp>
      <p:pic>
        <p:nvPicPr>
          <p:cNvPr id="49" name="Image 11" descr="preencoded.png">    </p:cNvPr>
          <p:cNvPicPr>
            <a:picLocks noChangeAspect="1"/>
          </p:cNvPicPr>
          <p:nvPr/>
        </p:nvPicPr>
        <p:blipFill>
          <a:blip r:embed="rId12"/>
          <a:stretch>
            <a:fillRect/>
          </a:stretch>
        </p:blipFill>
        <p:spPr>
          <a:xfrm>
            <a:off x="5088136" y="3738860"/>
            <a:ext cx="150019" cy="200025"/>
          </a:xfrm>
          <a:prstGeom prst="rect">
            <a:avLst/>
          </a:prstGeom>
        </p:spPr>
      </p:pic>
      <p:sp>
        <p:nvSpPr>
          <p:cNvPr id="50" name="Text 35"/>
          <p:cNvSpPr/>
          <p:nvPr/>
        </p:nvSpPr>
        <p:spPr>
          <a:xfrm>
            <a:off x="5045273" y="4088904"/>
            <a:ext cx="235744"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dlib</a:t>
            </a:r>
            <a:endParaRPr lang="en-US" sz="900" dirty="0"/>
          </a:p>
        </p:txBody>
      </p:sp>
      <p:sp>
        <p:nvSpPr>
          <p:cNvPr id="51" name="Text 36"/>
          <p:cNvSpPr/>
          <p:nvPr/>
        </p:nvSpPr>
        <p:spPr>
          <a:xfrm>
            <a:off x="4786313" y="4315718"/>
            <a:ext cx="753666"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Face Encodings</a:t>
            </a:r>
            <a:endParaRPr lang="en-US" sz="750" dirty="0"/>
          </a:p>
        </p:txBody>
      </p:sp>
      <p:sp>
        <p:nvSpPr>
          <p:cNvPr id="52" name="Shape 37"/>
          <p:cNvSpPr/>
          <p:nvPr/>
        </p:nvSpPr>
        <p:spPr>
          <a:xfrm>
            <a:off x="7040166" y="3653135"/>
            <a:ext cx="371475" cy="371475"/>
          </a:xfrm>
          <a:prstGeom prst="rect">
            <a:avLst/>
          </a:prstGeom>
          <a:solidFill>
            <a:srgbClr val="FFFFFF">
              <a:alpha val="5000"/>
            </a:srgbClr>
          </a:solidFill>
          <a:ln w="9144">
            <a:solidFill>
              <a:srgbClr val="FFFFFF">
                <a:alpha val="20000"/>
              </a:srgbClr>
            </a:solidFill>
            <a:prstDash val="solid"/>
          </a:ln>
        </p:spPr>
      </p:sp>
      <p:pic>
        <p:nvPicPr>
          <p:cNvPr id="53" name="Image 12" descr="preencoded.png">    </p:cNvPr>
          <p:cNvPicPr>
            <a:picLocks noChangeAspect="1"/>
          </p:cNvPicPr>
          <p:nvPr/>
        </p:nvPicPr>
        <p:blipFill>
          <a:blip r:embed="rId13"/>
          <a:stretch>
            <a:fillRect/>
          </a:stretch>
        </p:blipFill>
        <p:spPr>
          <a:xfrm>
            <a:off x="7125891" y="3738860"/>
            <a:ext cx="200025" cy="200025"/>
          </a:xfrm>
          <a:prstGeom prst="rect">
            <a:avLst/>
          </a:prstGeom>
        </p:spPr>
      </p:pic>
      <p:sp>
        <p:nvSpPr>
          <p:cNvPr id="54" name="Text 38"/>
          <p:cNvSpPr/>
          <p:nvPr/>
        </p:nvSpPr>
        <p:spPr>
          <a:xfrm>
            <a:off x="6790134" y="4088904"/>
            <a:ext cx="871538" cy="155377"/>
          </a:xfrm>
          <a:prstGeom prst="rect">
            <a:avLst/>
          </a:prstGeom>
          <a:noFill/>
          <a:ln/>
        </p:spPr>
        <p:txBody>
          <a:bodyPr wrap="none" lIns="0" tIns="0" rIns="0" bIns="0" rtlCol="0" anchor="t">
            <a:spAutoFit/>
          </a:bodyPr>
          <a:lstStyle/>
          <a:p>
            <a:pPr algn="l" indent="0" marL="0">
              <a:buNone/>
            </a:pPr>
            <a:r>
              <a:rPr lang="en-US" sz="900" dirty="0">
                <a:solidFill>
                  <a:srgbClr val="D1D5DB"/>
                </a:solidFill>
                <a:latin typeface="Inter Medium" pitchFamily="34" charset="0"/>
                <a:ea typeface="Inter Medium" pitchFamily="34" charset="-122"/>
                <a:cs typeface="Inter Medium" pitchFamily="34" charset="-120"/>
              </a:rPr>
              <a:t>Local Storage</a:t>
            </a:r>
            <a:endParaRPr lang="en-US" sz="900" dirty="0"/>
          </a:p>
        </p:txBody>
      </p:sp>
      <p:sp>
        <p:nvSpPr>
          <p:cNvPr id="55" name="Text 39"/>
          <p:cNvSpPr/>
          <p:nvPr/>
        </p:nvSpPr>
        <p:spPr>
          <a:xfrm>
            <a:off x="6907113" y="4315718"/>
            <a:ext cx="637580" cy="121444"/>
          </a:xfrm>
          <a:prstGeom prst="rect">
            <a:avLst/>
          </a:prstGeom>
          <a:noFill/>
          <a:ln/>
        </p:spPr>
        <p:txBody>
          <a:bodyPr wrap="none" lIns="0" tIns="0" rIns="0" bIns="0" rtlCol="0" anchor="t">
            <a:spAutoFit/>
          </a:bodyPr>
          <a:lstStyle/>
          <a:p>
            <a:pPr algn="l" indent="0" marL="0">
              <a:buNone/>
            </a:pPr>
            <a:r>
              <a:rPr lang="en-US" sz="750" dirty="0">
                <a:solidFill>
                  <a:srgbClr val="9CA3AF"/>
                </a:solidFill>
                <a:latin typeface="Inter" pitchFamily="34" charset="0"/>
                <a:ea typeface="Inter" pitchFamily="34" charset="-122"/>
                <a:cs typeface="Inter" pitchFamily="34" charset="-120"/>
              </a:rPr>
              <a:t>Image Assets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The Recognition Pipeline</a:t>
            </a:r>
            <a:endParaRPr lang="en-US" sz="3300" dirty="0"/>
          </a:p>
        </p:txBody>
      </p:sp>
      <p:sp>
        <p:nvSpPr>
          <p:cNvPr id="5" name="Shape 1"/>
          <p:cNvSpPr/>
          <p:nvPr/>
        </p:nvSpPr>
        <p:spPr>
          <a:xfrm>
            <a:off x="923330" y="1725216"/>
            <a:ext cx="582216" cy="228600"/>
          </a:xfrm>
          <a:prstGeom prst="rect">
            <a:avLst/>
          </a:prstGeom>
          <a:solidFill>
            <a:srgbClr val="FF5722">
              <a:alpha val="10000"/>
            </a:srgbClr>
          </a:solidFill>
          <a:ln w="9144">
            <a:solidFill>
              <a:srgbClr val="FF5722"/>
            </a:solidFill>
            <a:prstDash val="solid"/>
          </a:ln>
        </p:spPr>
      </p:sp>
      <p:sp>
        <p:nvSpPr>
          <p:cNvPr id="6" name="Text 2"/>
          <p:cNvSpPr/>
          <p:nvPr/>
        </p:nvSpPr>
        <p:spPr>
          <a:xfrm>
            <a:off x="923330" y="1725216"/>
            <a:ext cx="582216" cy="228600"/>
          </a:xfrm>
          <a:prstGeom prst="rect">
            <a:avLst/>
          </a:prstGeom>
          <a:noFill/>
          <a:ln/>
        </p:spPr>
        <p:txBody>
          <a:bodyPr wrap="none" lIns="102108" tIns="42545" rIns="102108" bIns="0" rtlCol="0" anchor="t">
            <a:spAutoFit/>
          </a:bodyPr>
          <a:lstStyle/>
          <a:p>
            <a:pPr algn="ctr" indent="0" marL="0">
              <a:buNone/>
            </a:pPr>
            <a:r>
              <a:rPr lang="en-US" sz="700" b="1" dirty="0">
                <a:solidFill>
                  <a:srgbClr val="FF5722"/>
                </a:solidFill>
                <a:latin typeface="Inter ExtraBold" pitchFamily="34" charset="0"/>
                <a:ea typeface="Inter ExtraBold" pitchFamily="34" charset="-122"/>
                <a:cs typeface="Inter ExtraBold" pitchFamily="34" charset="-120"/>
              </a:rPr>
              <a:t>STEP 01</a:t>
            </a:r>
            <a:endParaRPr lang="en-US" sz="700" dirty="0"/>
          </a:p>
        </p:txBody>
      </p:sp>
      <p:sp>
        <p:nvSpPr>
          <p:cNvPr id="7" name="Shape 3"/>
          <p:cNvSpPr/>
          <p:nvPr/>
        </p:nvSpPr>
        <p:spPr>
          <a:xfrm>
            <a:off x="421481" y="2046684"/>
            <a:ext cx="1585913" cy="2228850"/>
          </a:xfrm>
          <a:prstGeom prst="rect">
            <a:avLst/>
          </a:prstGeom>
          <a:solidFill>
            <a:srgbClr val="FFFFFF">
              <a:alpha val="3000"/>
            </a:srgbClr>
          </a:solidFill>
          <a:ln w="9144">
            <a:solidFill>
              <a:srgbClr val="FFFFFF">
                <a:alpha val="10000"/>
              </a:srgbClr>
            </a:solidFill>
            <a:prstDash val="solid"/>
          </a:ln>
        </p:spPr>
      </p:sp>
      <p:sp>
        <p:nvSpPr>
          <p:cNvPr id="8" name="Shape 4"/>
          <p:cNvSpPr/>
          <p:nvPr/>
        </p:nvSpPr>
        <p:spPr>
          <a:xfrm>
            <a:off x="1000125" y="2260997"/>
            <a:ext cx="428625" cy="428625"/>
          </a:xfrm>
          <a:prstGeom prst="ellipse">
            <a:avLst/>
          </a:prstGeom>
          <a:solidFill>
            <a:srgbClr val="FFFFFF">
              <a:alpha val="5000"/>
            </a:srgbClr>
          </a:solidFill>
          <a:ln/>
        </p:spPr>
      </p:sp>
      <p:pic>
        <p:nvPicPr>
          <p:cNvPr id="9" name="Image 1" descr="preencoded.png">    </p:cNvPr>
          <p:cNvPicPr>
            <a:picLocks noChangeAspect="1"/>
          </p:cNvPicPr>
          <p:nvPr/>
        </p:nvPicPr>
        <p:blipFill>
          <a:blip r:embed="rId2"/>
          <a:stretch>
            <a:fillRect/>
          </a:stretch>
        </p:blipFill>
        <p:spPr>
          <a:xfrm>
            <a:off x="1117997" y="2389584"/>
            <a:ext cx="192881" cy="171450"/>
          </a:xfrm>
          <a:prstGeom prst="rect">
            <a:avLst/>
          </a:prstGeom>
        </p:spPr>
      </p:pic>
      <p:sp>
        <p:nvSpPr>
          <p:cNvPr id="10" name="Text 5"/>
          <p:cNvSpPr/>
          <p:nvPr/>
        </p:nvSpPr>
        <p:spPr>
          <a:xfrm>
            <a:off x="874216" y="2832497"/>
            <a:ext cx="680442" cy="207169"/>
          </a:xfrm>
          <a:prstGeom prst="rect">
            <a:avLst/>
          </a:prstGeom>
          <a:noFill/>
          <a:ln/>
        </p:spPr>
        <p:txBody>
          <a:bodyPr wrap="none" lIns="0" tIns="0" rIns="0" bIns="0" rtlCol="0" anchor="t">
            <a:spAutoFit/>
          </a:bodyPr>
          <a:lstStyle/>
          <a:p>
            <a:pPr algn="ctr" indent="0" marL="0">
              <a:buNone/>
            </a:pPr>
            <a:r>
              <a:rPr lang="en-US" sz="1200" b="1" dirty="0">
                <a:solidFill>
                  <a:srgbClr val="FFFFFF"/>
                </a:solidFill>
                <a:latin typeface="Inter ExtraBold" pitchFamily="34" charset="0"/>
                <a:ea typeface="Inter ExtraBold" pitchFamily="34" charset="-122"/>
                <a:cs typeface="Inter ExtraBold" pitchFamily="34" charset="-120"/>
              </a:rPr>
              <a:t>Capture</a:t>
            </a:r>
            <a:endParaRPr lang="en-US" sz="1200" dirty="0"/>
          </a:p>
        </p:txBody>
      </p:sp>
      <p:sp>
        <p:nvSpPr>
          <p:cNvPr id="11" name="Text 6"/>
          <p:cNvSpPr/>
          <p:nvPr/>
        </p:nvSpPr>
        <p:spPr>
          <a:xfrm>
            <a:off x="428625" y="3146822"/>
            <a:ext cx="1571625" cy="480027"/>
          </a:xfrm>
          <a:prstGeom prst="rect">
            <a:avLst/>
          </a:prstGeom>
          <a:noFill/>
          <a:ln/>
        </p:spPr>
        <p:txBody>
          <a:bodyPr wrap="square" lIns="127508" tIns="0" rIns="127508" bIns="0" rtlCol="0" anchor="t">
            <a:spAutoFit/>
          </a:bodyPr>
          <a:lstStyle/>
          <a:p>
            <a:pPr algn="ctr" indent="0" marL="0">
              <a:lnSpc>
                <a:spcPct val="112000"/>
              </a:lnSpc>
              <a:buNone/>
            </a:pPr>
            <a:r>
              <a:rPr lang="en-US" sz="850" dirty="0">
                <a:solidFill>
                  <a:srgbClr val="9CA3AF"/>
                </a:solidFill>
                <a:latin typeface="Inter" pitchFamily="34" charset="0"/>
                <a:ea typeface="Inter" pitchFamily="34" charset="-122"/>
                <a:cs typeface="Inter" pitchFamily="34" charset="-120"/>
              </a:rPr>
              <a:t>High-speed frame acquisition at 15 FPS from camera stream.</a:t>
            </a:r>
            <a:endParaRPr lang="en-US" sz="850" dirty="0"/>
          </a:p>
        </p:txBody>
      </p:sp>
      <p:pic>
        <p:nvPicPr>
          <p:cNvPr id="12" name="Image 2" descr="preencoded.png">    </p:cNvPr>
          <p:cNvPicPr>
            <a:picLocks noChangeAspect="1"/>
          </p:cNvPicPr>
          <p:nvPr/>
        </p:nvPicPr>
        <p:blipFill>
          <a:blip r:embed="rId3"/>
          <a:stretch>
            <a:fillRect/>
          </a:stretch>
        </p:blipFill>
        <p:spPr>
          <a:xfrm>
            <a:off x="2009180" y="3025378"/>
            <a:ext cx="89297" cy="142875"/>
          </a:xfrm>
          <a:prstGeom prst="rect">
            <a:avLst/>
          </a:prstGeom>
        </p:spPr>
      </p:pic>
      <p:sp>
        <p:nvSpPr>
          <p:cNvPr id="13" name="Shape 7"/>
          <p:cNvSpPr/>
          <p:nvPr/>
        </p:nvSpPr>
        <p:spPr>
          <a:xfrm>
            <a:off x="2592288" y="1725216"/>
            <a:ext cx="601861" cy="228600"/>
          </a:xfrm>
          <a:prstGeom prst="rect">
            <a:avLst/>
          </a:prstGeom>
          <a:solidFill>
            <a:srgbClr val="FF5722">
              <a:alpha val="10000"/>
            </a:srgbClr>
          </a:solidFill>
          <a:ln w="9144">
            <a:solidFill>
              <a:srgbClr val="FF5722"/>
            </a:solidFill>
            <a:prstDash val="solid"/>
          </a:ln>
        </p:spPr>
      </p:sp>
      <p:sp>
        <p:nvSpPr>
          <p:cNvPr id="14" name="Text 8"/>
          <p:cNvSpPr/>
          <p:nvPr/>
        </p:nvSpPr>
        <p:spPr>
          <a:xfrm>
            <a:off x="2592288" y="1725216"/>
            <a:ext cx="601861" cy="228600"/>
          </a:xfrm>
          <a:prstGeom prst="rect">
            <a:avLst/>
          </a:prstGeom>
          <a:noFill/>
          <a:ln/>
        </p:spPr>
        <p:txBody>
          <a:bodyPr wrap="none" lIns="102108" tIns="42545" rIns="102108" bIns="0" rtlCol="0" anchor="t">
            <a:spAutoFit/>
          </a:bodyPr>
          <a:lstStyle/>
          <a:p>
            <a:pPr algn="ctr" indent="0" marL="0">
              <a:buNone/>
            </a:pPr>
            <a:r>
              <a:rPr lang="en-US" sz="700" b="1" dirty="0">
                <a:solidFill>
                  <a:srgbClr val="FF5722"/>
                </a:solidFill>
                <a:latin typeface="Inter ExtraBold" pitchFamily="34" charset="0"/>
                <a:ea typeface="Inter ExtraBold" pitchFamily="34" charset="-122"/>
                <a:cs typeface="Inter ExtraBold" pitchFamily="34" charset="-120"/>
              </a:rPr>
              <a:t>STEP 02</a:t>
            </a:r>
            <a:endParaRPr lang="en-US" sz="700" dirty="0"/>
          </a:p>
        </p:txBody>
      </p:sp>
      <p:sp>
        <p:nvSpPr>
          <p:cNvPr id="15" name="Shape 9"/>
          <p:cNvSpPr/>
          <p:nvPr/>
        </p:nvSpPr>
        <p:spPr>
          <a:xfrm>
            <a:off x="2100263" y="2046684"/>
            <a:ext cx="1585913" cy="2228850"/>
          </a:xfrm>
          <a:prstGeom prst="rect">
            <a:avLst/>
          </a:prstGeom>
          <a:solidFill>
            <a:srgbClr val="FFFFFF">
              <a:alpha val="3000"/>
            </a:srgbClr>
          </a:solidFill>
          <a:ln w="9144">
            <a:solidFill>
              <a:srgbClr val="FFFFFF">
                <a:alpha val="10000"/>
              </a:srgbClr>
            </a:solidFill>
            <a:prstDash val="solid"/>
          </a:ln>
        </p:spPr>
      </p:sp>
      <p:sp>
        <p:nvSpPr>
          <p:cNvPr id="16" name="Shape 10"/>
          <p:cNvSpPr/>
          <p:nvPr/>
        </p:nvSpPr>
        <p:spPr>
          <a:xfrm>
            <a:off x="2678906" y="2260997"/>
            <a:ext cx="428625" cy="428625"/>
          </a:xfrm>
          <a:prstGeom prst="ellipse">
            <a:avLst/>
          </a:prstGeom>
          <a:solidFill>
            <a:srgbClr val="FFFFFF">
              <a:alpha val="5000"/>
            </a:srgbClr>
          </a:solidFill>
          <a:ln/>
        </p:spPr>
      </p:sp>
      <p:pic>
        <p:nvPicPr>
          <p:cNvPr id="17" name="Image 3" descr="preencoded.png">    </p:cNvPr>
          <p:cNvPicPr>
            <a:picLocks noChangeAspect="1"/>
          </p:cNvPicPr>
          <p:nvPr/>
        </p:nvPicPr>
        <p:blipFill>
          <a:blip r:embed="rId4"/>
          <a:stretch>
            <a:fillRect/>
          </a:stretch>
        </p:blipFill>
        <p:spPr>
          <a:xfrm>
            <a:off x="2818209" y="2389584"/>
            <a:ext cx="150019" cy="171450"/>
          </a:xfrm>
          <a:prstGeom prst="rect">
            <a:avLst/>
          </a:prstGeom>
        </p:spPr>
      </p:pic>
      <p:sp>
        <p:nvSpPr>
          <p:cNvPr id="18" name="Text 11"/>
          <p:cNvSpPr/>
          <p:nvPr/>
        </p:nvSpPr>
        <p:spPr>
          <a:xfrm>
            <a:off x="2611934" y="2832497"/>
            <a:ext cx="562570" cy="207169"/>
          </a:xfrm>
          <a:prstGeom prst="rect">
            <a:avLst/>
          </a:prstGeom>
          <a:noFill/>
          <a:ln/>
        </p:spPr>
        <p:txBody>
          <a:bodyPr wrap="none" lIns="0" tIns="0" rIns="0" bIns="0" rtlCol="0" anchor="t">
            <a:spAutoFit/>
          </a:bodyPr>
          <a:lstStyle/>
          <a:p>
            <a:pPr algn="ctr" indent="0" marL="0">
              <a:buNone/>
            </a:pPr>
            <a:r>
              <a:rPr lang="en-US" sz="1200" b="1" dirty="0">
                <a:solidFill>
                  <a:srgbClr val="FFFFFF"/>
                </a:solidFill>
                <a:latin typeface="Inter ExtraBold" pitchFamily="34" charset="0"/>
                <a:ea typeface="Inter ExtraBold" pitchFamily="34" charset="-122"/>
                <a:cs typeface="Inter ExtraBold" pitchFamily="34" charset="-120"/>
              </a:rPr>
              <a:t>Detect</a:t>
            </a:r>
            <a:endParaRPr lang="en-US" sz="1200" dirty="0"/>
          </a:p>
        </p:txBody>
      </p:sp>
      <p:sp>
        <p:nvSpPr>
          <p:cNvPr id="19" name="Text 12"/>
          <p:cNvSpPr/>
          <p:nvPr/>
        </p:nvSpPr>
        <p:spPr>
          <a:xfrm>
            <a:off x="2107406" y="3146822"/>
            <a:ext cx="1571625" cy="480027"/>
          </a:xfrm>
          <a:prstGeom prst="rect">
            <a:avLst/>
          </a:prstGeom>
          <a:noFill/>
          <a:ln/>
        </p:spPr>
        <p:txBody>
          <a:bodyPr wrap="square" lIns="127508" tIns="0" rIns="127508" bIns="0" rtlCol="0" anchor="t">
            <a:spAutoFit/>
          </a:bodyPr>
          <a:lstStyle/>
          <a:p>
            <a:pPr algn="ctr" indent="0" marL="0">
              <a:lnSpc>
                <a:spcPct val="112000"/>
              </a:lnSpc>
              <a:buNone/>
            </a:pPr>
            <a:r>
              <a:rPr lang="en-US" sz="850" dirty="0">
                <a:solidFill>
                  <a:srgbClr val="9CA3AF"/>
                </a:solidFill>
                <a:latin typeface="Inter" pitchFamily="34" charset="0"/>
                <a:ea typeface="Inter" pitchFamily="34" charset="-122"/>
                <a:cs typeface="Inter" pitchFamily="34" charset="-120"/>
              </a:rPr>
              <a:t>HOG-based localization to find face coordinates in frame.</a:t>
            </a:r>
            <a:endParaRPr lang="en-US" sz="850" dirty="0"/>
          </a:p>
        </p:txBody>
      </p:sp>
      <p:pic>
        <p:nvPicPr>
          <p:cNvPr id="20" name="Image 4" descr="preencoded.png">    </p:cNvPr>
          <p:cNvPicPr>
            <a:picLocks noChangeAspect="1"/>
          </p:cNvPicPr>
          <p:nvPr/>
        </p:nvPicPr>
        <p:blipFill>
          <a:blip r:embed="rId5"/>
          <a:stretch>
            <a:fillRect/>
          </a:stretch>
        </p:blipFill>
        <p:spPr>
          <a:xfrm>
            <a:off x="3687961" y="3025378"/>
            <a:ext cx="89297" cy="142875"/>
          </a:xfrm>
          <a:prstGeom prst="rect">
            <a:avLst/>
          </a:prstGeom>
        </p:spPr>
      </p:pic>
      <p:sp>
        <p:nvSpPr>
          <p:cNvPr id="21" name="Shape 13"/>
          <p:cNvSpPr/>
          <p:nvPr/>
        </p:nvSpPr>
        <p:spPr>
          <a:xfrm>
            <a:off x="4270177" y="1725216"/>
            <a:ext cx="603647" cy="228600"/>
          </a:xfrm>
          <a:prstGeom prst="rect">
            <a:avLst/>
          </a:prstGeom>
          <a:solidFill>
            <a:srgbClr val="FF5722">
              <a:alpha val="10000"/>
            </a:srgbClr>
          </a:solidFill>
          <a:ln w="9144">
            <a:solidFill>
              <a:srgbClr val="FF5722"/>
            </a:solidFill>
            <a:prstDash val="solid"/>
          </a:ln>
        </p:spPr>
      </p:sp>
      <p:sp>
        <p:nvSpPr>
          <p:cNvPr id="22" name="Text 14"/>
          <p:cNvSpPr/>
          <p:nvPr/>
        </p:nvSpPr>
        <p:spPr>
          <a:xfrm>
            <a:off x="4270177" y="1725216"/>
            <a:ext cx="603647" cy="228600"/>
          </a:xfrm>
          <a:prstGeom prst="rect">
            <a:avLst/>
          </a:prstGeom>
          <a:noFill/>
          <a:ln/>
        </p:spPr>
        <p:txBody>
          <a:bodyPr wrap="none" lIns="102108" tIns="42545" rIns="102108" bIns="0" rtlCol="0" anchor="t">
            <a:spAutoFit/>
          </a:bodyPr>
          <a:lstStyle/>
          <a:p>
            <a:pPr algn="ctr" indent="0" marL="0">
              <a:buNone/>
            </a:pPr>
            <a:r>
              <a:rPr lang="en-US" sz="700" b="1" dirty="0">
                <a:solidFill>
                  <a:srgbClr val="FF5722"/>
                </a:solidFill>
                <a:latin typeface="Inter ExtraBold" pitchFamily="34" charset="0"/>
                <a:ea typeface="Inter ExtraBold" pitchFamily="34" charset="-122"/>
                <a:cs typeface="Inter ExtraBold" pitchFamily="34" charset="-120"/>
              </a:rPr>
              <a:t>STEP 03</a:t>
            </a:r>
            <a:endParaRPr lang="en-US" sz="700" dirty="0"/>
          </a:p>
        </p:txBody>
      </p:sp>
      <p:sp>
        <p:nvSpPr>
          <p:cNvPr id="23" name="Shape 15"/>
          <p:cNvSpPr/>
          <p:nvPr/>
        </p:nvSpPr>
        <p:spPr>
          <a:xfrm>
            <a:off x="3779044" y="2046684"/>
            <a:ext cx="1585913" cy="2228850"/>
          </a:xfrm>
          <a:prstGeom prst="rect">
            <a:avLst/>
          </a:prstGeom>
          <a:solidFill>
            <a:srgbClr val="FFFFFF">
              <a:alpha val="3000"/>
            </a:srgbClr>
          </a:solidFill>
          <a:ln w="9144">
            <a:solidFill>
              <a:srgbClr val="FFFFFF">
                <a:alpha val="10000"/>
              </a:srgbClr>
            </a:solidFill>
            <a:prstDash val="solid"/>
          </a:ln>
        </p:spPr>
      </p:sp>
      <p:sp>
        <p:nvSpPr>
          <p:cNvPr id="24" name="Shape 16"/>
          <p:cNvSpPr/>
          <p:nvPr/>
        </p:nvSpPr>
        <p:spPr>
          <a:xfrm>
            <a:off x="4357688" y="2260997"/>
            <a:ext cx="428625" cy="428625"/>
          </a:xfrm>
          <a:prstGeom prst="ellipse">
            <a:avLst/>
          </a:prstGeom>
          <a:solidFill>
            <a:srgbClr val="FFFFFF">
              <a:alpha val="5000"/>
            </a:srgbClr>
          </a:solidFill>
          <a:ln/>
        </p:spPr>
      </p:sp>
      <p:pic>
        <p:nvPicPr>
          <p:cNvPr id="25" name="Image 5" descr="preencoded.png">    </p:cNvPr>
          <p:cNvPicPr>
            <a:picLocks noChangeAspect="1"/>
          </p:cNvPicPr>
          <p:nvPr/>
        </p:nvPicPr>
        <p:blipFill>
          <a:blip r:embed="rId6"/>
          <a:stretch>
            <a:fillRect/>
          </a:stretch>
        </p:blipFill>
        <p:spPr>
          <a:xfrm>
            <a:off x="4486275" y="2389584"/>
            <a:ext cx="171450" cy="171450"/>
          </a:xfrm>
          <a:prstGeom prst="rect">
            <a:avLst/>
          </a:prstGeom>
        </p:spPr>
      </p:pic>
      <p:sp>
        <p:nvSpPr>
          <p:cNvPr id="26" name="Text 17"/>
          <p:cNvSpPr/>
          <p:nvPr/>
        </p:nvSpPr>
        <p:spPr>
          <a:xfrm>
            <a:off x="4254996" y="2832497"/>
            <a:ext cx="634008" cy="207169"/>
          </a:xfrm>
          <a:prstGeom prst="rect">
            <a:avLst/>
          </a:prstGeom>
          <a:noFill/>
          <a:ln/>
        </p:spPr>
        <p:txBody>
          <a:bodyPr wrap="none" lIns="0" tIns="0" rIns="0" bIns="0" rtlCol="0" anchor="t">
            <a:spAutoFit/>
          </a:bodyPr>
          <a:lstStyle/>
          <a:p>
            <a:pPr algn="ctr" indent="0" marL="0">
              <a:buNone/>
            </a:pPr>
            <a:r>
              <a:rPr lang="en-US" sz="1200" b="1" dirty="0">
                <a:solidFill>
                  <a:srgbClr val="FFFFFF"/>
                </a:solidFill>
                <a:latin typeface="Inter ExtraBold" pitchFamily="34" charset="0"/>
                <a:ea typeface="Inter ExtraBold" pitchFamily="34" charset="-122"/>
                <a:cs typeface="Inter ExtraBold" pitchFamily="34" charset="-120"/>
              </a:rPr>
              <a:t>Encode</a:t>
            </a:r>
            <a:endParaRPr lang="en-US" sz="1200" dirty="0"/>
          </a:p>
        </p:txBody>
      </p:sp>
      <p:sp>
        <p:nvSpPr>
          <p:cNvPr id="27" name="Text 18"/>
          <p:cNvSpPr/>
          <p:nvPr/>
        </p:nvSpPr>
        <p:spPr>
          <a:xfrm>
            <a:off x="3786188" y="3146822"/>
            <a:ext cx="1571625" cy="480027"/>
          </a:xfrm>
          <a:prstGeom prst="rect">
            <a:avLst/>
          </a:prstGeom>
          <a:noFill/>
          <a:ln/>
        </p:spPr>
        <p:txBody>
          <a:bodyPr wrap="square" lIns="127508" tIns="0" rIns="127508" bIns="0" rtlCol="0" anchor="t">
            <a:spAutoFit/>
          </a:bodyPr>
          <a:lstStyle/>
          <a:p>
            <a:pPr algn="ctr" indent="0" marL="0">
              <a:lnSpc>
                <a:spcPct val="112000"/>
              </a:lnSpc>
              <a:buNone/>
            </a:pPr>
            <a:r>
              <a:rPr lang="en-US" sz="850" dirty="0">
                <a:solidFill>
                  <a:srgbClr val="9CA3AF"/>
                </a:solidFill>
                <a:latin typeface="Inter" pitchFamily="34" charset="0"/>
                <a:ea typeface="Inter" pitchFamily="34" charset="-122"/>
                <a:cs typeface="Inter" pitchFamily="34" charset="-120"/>
              </a:rPr>
              <a:t>Generate unique 128-dimensional vector for each face.</a:t>
            </a:r>
            <a:endParaRPr lang="en-US" sz="850" dirty="0"/>
          </a:p>
        </p:txBody>
      </p:sp>
      <p:pic>
        <p:nvPicPr>
          <p:cNvPr id="28" name="Image 6" descr="preencoded.png">    </p:cNvPr>
          <p:cNvPicPr>
            <a:picLocks noChangeAspect="1"/>
          </p:cNvPicPr>
          <p:nvPr/>
        </p:nvPicPr>
        <p:blipFill>
          <a:blip r:embed="rId7"/>
          <a:stretch>
            <a:fillRect/>
          </a:stretch>
        </p:blipFill>
        <p:spPr>
          <a:xfrm>
            <a:off x="5366742" y="3025378"/>
            <a:ext cx="89297" cy="142875"/>
          </a:xfrm>
          <a:prstGeom prst="rect">
            <a:avLst/>
          </a:prstGeom>
        </p:spPr>
      </p:pic>
      <p:sp>
        <p:nvSpPr>
          <p:cNvPr id="29" name="Shape 19"/>
          <p:cNvSpPr/>
          <p:nvPr/>
        </p:nvSpPr>
        <p:spPr>
          <a:xfrm>
            <a:off x="5947172" y="1725216"/>
            <a:ext cx="607219" cy="228600"/>
          </a:xfrm>
          <a:prstGeom prst="rect">
            <a:avLst/>
          </a:prstGeom>
          <a:solidFill>
            <a:srgbClr val="FF5722">
              <a:alpha val="10000"/>
            </a:srgbClr>
          </a:solidFill>
          <a:ln w="9144">
            <a:solidFill>
              <a:srgbClr val="FF5722"/>
            </a:solidFill>
            <a:prstDash val="solid"/>
          </a:ln>
        </p:spPr>
      </p:sp>
      <p:sp>
        <p:nvSpPr>
          <p:cNvPr id="30" name="Text 20"/>
          <p:cNvSpPr/>
          <p:nvPr/>
        </p:nvSpPr>
        <p:spPr>
          <a:xfrm>
            <a:off x="5947172" y="1725216"/>
            <a:ext cx="607219" cy="228600"/>
          </a:xfrm>
          <a:prstGeom prst="rect">
            <a:avLst/>
          </a:prstGeom>
          <a:noFill/>
          <a:ln/>
        </p:spPr>
        <p:txBody>
          <a:bodyPr wrap="none" lIns="102108" tIns="42545" rIns="102108" bIns="0" rtlCol="0" anchor="t">
            <a:spAutoFit/>
          </a:bodyPr>
          <a:lstStyle/>
          <a:p>
            <a:pPr algn="ctr" indent="0" marL="0">
              <a:buNone/>
            </a:pPr>
            <a:r>
              <a:rPr lang="en-US" sz="700" b="1" dirty="0">
                <a:solidFill>
                  <a:srgbClr val="FF5722"/>
                </a:solidFill>
                <a:latin typeface="Inter ExtraBold" pitchFamily="34" charset="0"/>
                <a:ea typeface="Inter ExtraBold" pitchFamily="34" charset="-122"/>
                <a:cs typeface="Inter ExtraBold" pitchFamily="34" charset="-120"/>
              </a:rPr>
              <a:t>STEP 04</a:t>
            </a:r>
            <a:endParaRPr lang="en-US" sz="700" dirty="0"/>
          </a:p>
        </p:txBody>
      </p:sp>
      <p:sp>
        <p:nvSpPr>
          <p:cNvPr id="31" name="Shape 21"/>
          <p:cNvSpPr/>
          <p:nvPr/>
        </p:nvSpPr>
        <p:spPr>
          <a:xfrm>
            <a:off x="5457825" y="2046684"/>
            <a:ext cx="1585913" cy="2228850"/>
          </a:xfrm>
          <a:prstGeom prst="rect">
            <a:avLst/>
          </a:prstGeom>
          <a:solidFill>
            <a:srgbClr val="FFFFFF">
              <a:alpha val="3000"/>
            </a:srgbClr>
          </a:solidFill>
          <a:ln w="9144">
            <a:solidFill>
              <a:srgbClr val="FFFFFF">
                <a:alpha val="10000"/>
              </a:srgbClr>
            </a:solidFill>
            <a:prstDash val="solid"/>
          </a:ln>
        </p:spPr>
      </p:sp>
      <p:sp>
        <p:nvSpPr>
          <p:cNvPr id="32" name="Shape 22"/>
          <p:cNvSpPr/>
          <p:nvPr/>
        </p:nvSpPr>
        <p:spPr>
          <a:xfrm>
            <a:off x="6036469" y="2260997"/>
            <a:ext cx="428625" cy="428625"/>
          </a:xfrm>
          <a:prstGeom prst="ellipse">
            <a:avLst/>
          </a:prstGeom>
          <a:solidFill>
            <a:srgbClr val="FFFFFF">
              <a:alpha val="5000"/>
            </a:srgbClr>
          </a:solidFill>
          <a:ln/>
        </p:spPr>
      </p:sp>
      <p:pic>
        <p:nvPicPr>
          <p:cNvPr id="33" name="Image 7" descr="preencoded.png">    </p:cNvPr>
          <p:cNvPicPr>
            <a:picLocks noChangeAspect="1"/>
          </p:cNvPicPr>
          <p:nvPr/>
        </p:nvPicPr>
        <p:blipFill>
          <a:blip r:embed="rId8"/>
          <a:stretch>
            <a:fillRect/>
          </a:stretch>
        </p:blipFill>
        <p:spPr>
          <a:xfrm>
            <a:off x="6165056" y="2389584"/>
            <a:ext cx="171450" cy="171450"/>
          </a:xfrm>
          <a:prstGeom prst="rect">
            <a:avLst/>
          </a:prstGeom>
        </p:spPr>
      </p:pic>
      <p:sp>
        <p:nvSpPr>
          <p:cNvPr id="34" name="Text 23"/>
          <p:cNvSpPr/>
          <p:nvPr/>
        </p:nvSpPr>
        <p:spPr>
          <a:xfrm>
            <a:off x="5981998" y="2832497"/>
            <a:ext cx="537567" cy="207169"/>
          </a:xfrm>
          <a:prstGeom prst="rect">
            <a:avLst/>
          </a:prstGeom>
          <a:noFill/>
          <a:ln/>
        </p:spPr>
        <p:txBody>
          <a:bodyPr wrap="none" lIns="0" tIns="0" rIns="0" bIns="0" rtlCol="0" anchor="t">
            <a:spAutoFit/>
          </a:bodyPr>
          <a:lstStyle/>
          <a:p>
            <a:pPr algn="ctr" indent="0" marL="0">
              <a:buNone/>
            </a:pPr>
            <a:r>
              <a:rPr lang="en-US" sz="1200" b="1" dirty="0">
                <a:solidFill>
                  <a:srgbClr val="FFFFFF"/>
                </a:solidFill>
                <a:latin typeface="Inter ExtraBold" pitchFamily="34" charset="0"/>
                <a:ea typeface="Inter ExtraBold" pitchFamily="34" charset="-122"/>
                <a:cs typeface="Inter ExtraBold" pitchFamily="34" charset="-120"/>
              </a:rPr>
              <a:t>Match</a:t>
            </a:r>
            <a:endParaRPr lang="en-US" sz="1200" dirty="0"/>
          </a:p>
        </p:txBody>
      </p:sp>
      <p:sp>
        <p:nvSpPr>
          <p:cNvPr id="35" name="Text 24"/>
          <p:cNvSpPr/>
          <p:nvPr/>
        </p:nvSpPr>
        <p:spPr>
          <a:xfrm>
            <a:off x="5464969" y="3146822"/>
            <a:ext cx="1571625" cy="480027"/>
          </a:xfrm>
          <a:prstGeom prst="rect">
            <a:avLst/>
          </a:prstGeom>
          <a:noFill/>
          <a:ln/>
        </p:spPr>
        <p:txBody>
          <a:bodyPr wrap="square" lIns="127508" tIns="0" rIns="127508" bIns="0" rtlCol="0" anchor="t">
            <a:spAutoFit/>
          </a:bodyPr>
          <a:lstStyle/>
          <a:p>
            <a:pPr algn="ctr" indent="0" marL="0">
              <a:lnSpc>
                <a:spcPct val="112000"/>
              </a:lnSpc>
              <a:buNone/>
            </a:pPr>
            <a:r>
              <a:rPr lang="en-US" sz="850" dirty="0">
                <a:solidFill>
                  <a:srgbClr val="9CA3AF"/>
                </a:solidFill>
                <a:latin typeface="Inter" pitchFamily="34" charset="0"/>
                <a:ea typeface="Inter" pitchFamily="34" charset="-122"/>
                <a:cs typeface="Inter" pitchFamily="34" charset="-120"/>
              </a:rPr>
              <a:t>Vector comparison against database (distance &lt; 0.5).</a:t>
            </a:r>
            <a:endParaRPr lang="en-US" sz="850" dirty="0"/>
          </a:p>
        </p:txBody>
      </p:sp>
      <p:pic>
        <p:nvPicPr>
          <p:cNvPr id="36" name="Image 8" descr="preencoded.png">    </p:cNvPr>
          <p:cNvPicPr>
            <a:picLocks noChangeAspect="1"/>
          </p:cNvPicPr>
          <p:nvPr/>
        </p:nvPicPr>
        <p:blipFill>
          <a:blip r:embed="rId9"/>
          <a:stretch>
            <a:fillRect/>
          </a:stretch>
        </p:blipFill>
        <p:spPr>
          <a:xfrm>
            <a:off x="7045523" y="3025378"/>
            <a:ext cx="89297" cy="142875"/>
          </a:xfrm>
          <a:prstGeom prst="rect">
            <a:avLst/>
          </a:prstGeom>
        </p:spPr>
      </p:pic>
      <p:sp>
        <p:nvSpPr>
          <p:cNvPr id="37" name="Shape 25"/>
          <p:cNvSpPr/>
          <p:nvPr/>
        </p:nvSpPr>
        <p:spPr>
          <a:xfrm>
            <a:off x="7628632" y="1725216"/>
            <a:ext cx="601861" cy="228600"/>
          </a:xfrm>
          <a:prstGeom prst="rect">
            <a:avLst/>
          </a:prstGeom>
          <a:solidFill>
            <a:srgbClr val="FF5722">
              <a:alpha val="10000"/>
            </a:srgbClr>
          </a:solidFill>
          <a:ln w="9144">
            <a:solidFill>
              <a:srgbClr val="FF5722"/>
            </a:solidFill>
            <a:prstDash val="solid"/>
          </a:ln>
        </p:spPr>
      </p:sp>
      <p:sp>
        <p:nvSpPr>
          <p:cNvPr id="38" name="Text 26"/>
          <p:cNvSpPr/>
          <p:nvPr/>
        </p:nvSpPr>
        <p:spPr>
          <a:xfrm>
            <a:off x="7628632" y="1725216"/>
            <a:ext cx="601861" cy="228600"/>
          </a:xfrm>
          <a:prstGeom prst="rect">
            <a:avLst/>
          </a:prstGeom>
          <a:noFill/>
          <a:ln/>
        </p:spPr>
        <p:txBody>
          <a:bodyPr wrap="none" lIns="102108" tIns="42545" rIns="102108" bIns="0" rtlCol="0" anchor="t">
            <a:spAutoFit/>
          </a:bodyPr>
          <a:lstStyle/>
          <a:p>
            <a:pPr algn="ctr" indent="0" marL="0">
              <a:buNone/>
            </a:pPr>
            <a:r>
              <a:rPr lang="en-US" sz="700" b="1" dirty="0">
                <a:solidFill>
                  <a:srgbClr val="FF5722"/>
                </a:solidFill>
                <a:latin typeface="Inter ExtraBold" pitchFamily="34" charset="0"/>
                <a:ea typeface="Inter ExtraBold" pitchFamily="34" charset="-122"/>
                <a:cs typeface="Inter ExtraBold" pitchFamily="34" charset="-120"/>
              </a:rPr>
              <a:t>STEP 05</a:t>
            </a:r>
            <a:endParaRPr lang="en-US" sz="700" dirty="0"/>
          </a:p>
        </p:txBody>
      </p:sp>
      <p:sp>
        <p:nvSpPr>
          <p:cNvPr id="39" name="Shape 27"/>
          <p:cNvSpPr/>
          <p:nvPr/>
        </p:nvSpPr>
        <p:spPr>
          <a:xfrm>
            <a:off x="7136606" y="2046684"/>
            <a:ext cx="1585913" cy="2228850"/>
          </a:xfrm>
          <a:prstGeom prst="rect">
            <a:avLst/>
          </a:prstGeom>
          <a:solidFill>
            <a:srgbClr val="FFFFFF">
              <a:alpha val="3000"/>
            </a:srgbClr>
          </a:solidFill>
          <a:ln w="9144">
            <a:solidFill>
              <a:srgbClr val="FFFFFF">
                <a:alpha val="10000"/>
              </a:srgbClr>
            </a:solidFill>
            <a:prstDash val="solid"/>
          </a:ln>
        </p:spPr>
      </p:sp>
      <p:sp>
        <p:nvSpPr>
          <p:cNvPr id="40" name="Shape 28"/>
          <p:cNvSpPr/>
          <p:nvPr/>
        </p:nvSpPr>
        <p:spPr>
          <a:xfrm>
            <a:off x="7715250" y="2260997"/>
            <a:ext cx="428625" cy="428625"/>
          </a:xfrm>
          <a:prstGeom prst="ellipse">
            <a:avLst/>
          </a:prstGeom>
          <a:solidFill>
            <a:srgbClr val="FFFFFF">
              <a:alpha val="5000"/>
            </a:srgbClr>
          </a:solidFill>
          <a:ln/>
        </p:spPr>
      </p:sp>
      <p:pic>
        <p:nvPicPr>
          <p:cNvPr id="41" name="Image 9" descr="preencoded.png">    </p:cNvPr>
          <p:cNvPicPr>
            <a:picLocks noChangeAspect="1"/>
          </p:cNvPicPr>
          <p:nvPr/>
        </p:nvPicPr>
        <p:blipFill>
          <a:blip r:embed="rId10"/>
          <a:stretch>
            <a:fillRect/>
          </a:stretch>
        </p:blipFill>
        <p:spPr>
          <a:xfrm>
            <a:off x="7843838" y="2389584"/>
            <a:ext cx="171450" cy="171450"/>
          </a:xfrm>
          <a:prstGeom prst="rect">
            <a:avLst/>
          </a:prstGeom>
        </p:spPr>
      </p:pic>
      <p:sp>
        <p:nvSpPr>
          <p:cNvPr id="42" name="Text 29"/>
          <p:cNvSpPr/>
          <p:nvPr/>
        </p:nvSpPr>
        <p:spPr>
          <a:xfrm>
            <a:off x="7586663" y="2832497"/>
            <a:ext cx="685800" cy="207169"/>
          </a:xfrm>
          <a:prstGeom prst="rect">
            <a:avLst/>
          </a:prstGeom>
          <a:noFill/>
          <a:ln/>
        </p:spPr>
        <p:txBody>
          <a:bodyPr wrap="none" lIns="0" tIns="0" rIns="0" bIns="0" rtlCol="0" anchor="t">
            <a:spAutoFit/>
          </a:bodyPr>
          <a:lstStyle/>
          <a:p>
            <a:pPr algn="ctr" indent="0" marL="0">
              <a:buNone/>
            </a:pPr>
            <a:r>
              <a:rPr lang="en-US" sz="1200" b="1" dirty="0">
                <a:solidFill>
                  <a:srgbClr val="FFFFFF"/>
                </a:solidFill>
                <a:latin typeface="Inter ExtraBold" pitchFamily="34" charset="0"/>
                <a:ea typeface="Inter ExtraBold" pitchFamily="34" charset="-122"/>
                <a:cs typeface="Inter ExtraBold" pitchFamily="34" charset="-120"/>
              </a:rPr>
              <a:t>Execute</a:t>
            </a:r>
            <a:endParaRPr lang="en-US" sz="1200" dirty="0"/>
          </a:p>
        </p:txBody>
      </p:sp>
      <p:sp>
        <p:nvSpPr>
          <p:cNvPr id="43" name="Text 30"/>
          <p:cNvSpPr/>
          <p:nvPr/>
        </p:nvSpPr>
        <p:spPr>
          <a:xfrm>
            <a:off x="7143750" y="3146822"/>
            <a:ext cx="1571625" cy="480027"/>
          </a:xfrm>
          <a:prstGeom prst="rect">
            <a:avLst/>
          </a:prstGeom>
          <a:noFill/>
          <a:ln/>
        </p:spPr>
        <p:txBody>
          <a:bodyPr wrap="square" lIns="127508" tIns="0" rIns="127508" bIns="0" rtlCol="0" anchor="t">
            <a:spAutoFit/>
          </a:bodyPr>
          <a:lstStyle/>
          <a:p>
            <a:pPr algn="ctr" indent="0" marL="0">
              <a:lnSpc>
                <a:spcPct val="112000"/>
              </a:lnSpc>
              <a:buNone/>
            </a:pPr>
            <a:r>
              <a:rPr lang="en-US" sz="850" dirty="0">
                <a:solidFill>
                  <a:srgbClr val="9CA3AF"/>
                </a:solidFill>
                <a:latin typeface="Inter" pitchFamily="34" charset="0"/>
                <a:ea typeface="Inter" pitchFamily="34" charset="-122"/>
                <a:cs typeface="Inter" pitchFamily="34" charset="-120"/>
              </a:rPr>
              <a:t>Log attendance with proof image and voice alert.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Two-Thread Architecture</a:t>
            </a:r>
            <a:endParaRPr lang="en-US" sz="3300" dirty="0"/>
          </a:p>
        </p:txBody>
      </p:sp>
      <p:sp>
        <p:nvSpPr>
          <p:cNvPr id="5" name="Text 1"/>
          <p:cNvSpPr/>
          <p:nvPr/>
        </p:nvSpPr>
        <p:spPr>
          <a:xfrm>
            <a:off x="571500" y="1225153"/>
            <a:ext cx="8572500" cy="207169"/>
          </a:xfrm>
          <a:prstGeom prst="rect">
            <a:avLst/>
          </a:prstGeom>
          <a:noFill/>
          <a:ln/>
        </p:spPr>
        <p:txBody>
          <a:bodyPr wrap="square" lIns="0" tIns="0" rIns="0" bIns="0" rtlCol="0" anchor="t">
            <a:spAutoFit/>
          </a:bodyPr>
          <a:lstStyle/>
          <a:p>
            <a:pPr algn="l" indent="0" marL="0">
              <a:buNone/>
            </a:pPr>
            <a:r>
              <a:rPr lang="en-US" sz="1250" dirty="0">
                <a:solidFill>
                  <a:srgbClr val="FF5722"/>
                </a:solidFill>
                <a:latin typeface="Inter Medium" pitchFamily="34" charset="0"/>
                <a:ea typeface="Inter Medium" pitchFamily="34" charset="-122"/>
                <a:cs typeface="Inter Medium" pitchFamily="34" charset="-120"/>
              </a:rPr>
              <a:t>Solving the Real-Time Freezing Problem</a:t>
            </a:r>
            <a:endParaRPr lang="en-US" sz="1250" dirty="0"/>
          </a:p>
        </p:txBody>
      </p:sp>
      <p:sp>
        <p:nvSpPr>
          <p:cNvPr id="6" name="Shape 2"/>
          <p:cNvSpPr/>
          <p:nvPr/>
        </p:nvSpPr>
        <p:spPr>
          <a:xfrm>
            <a:off x="571500" y="1789509"/>
            <a:ext cx="3629025" cy="3300413"/>
          </a:xfrm>
          <a:prstGeom prst="rect">
            <a:avLst/>
          </a:prstGeom>
          <a:solidFill>
            <a:srgbClr val="FFFFFF">
              <a:alpha val="3000"/>
            </a:srgbClr>
          </a:solidFill>
          <a:ln w="9144">
            <a:solidFill>
              <a:srgbClr val="FFFFFF">
                <a:alpha val="10000"/>
              </a:srgbClr>
            </a:solidFill>
            <a:prstDash val="solid"/>
          </a:ln>
        </p:spPr>
      </p:sp>
      <p:sp>
        <p:nvSpPr>
          <p:cNvPr id="7" name="Shape 3"/>
          <p:cNvSpPr/>
          <p:nvPr/>
        </p:nvSpPr>
        <p:spPr>
          <a:xfrm>
            <a:off x="3489722" y="1932384"/>
            <a:ext cx="560784" cy="192881"/>
          </a:xfrm>
          <a:prstGeom prst="rect">
            <a:avLst/>
          </a:prstGeom>
          <a:solidFill>
            <a:srgbClr val="FF5722"/>
          </a:solidFill>
          <a:ln/>
        </p:spPr>
      </p:sp>
      <p:sp>
        <p:nvSpPr>
          <p:cNvPr id="8" name="Text 4"/>
          <p:cNvSpPr/>
          <p:nvPr/>
        </p:nvSpPr>
        <p:spPr>
          <a:xfrm>
            <a:off x="3489722" y="1932384"/>
            <a:ext cx="560784" cy="192881"/>
          </a:xfrm>
          <a:prstGeom prst="rect">
            <a:avLst/>
          </a:prstGeom>
          <a:noFill/>
          <a:ln/>
        </p:spPr>
        <p:txBody>
          <a:bodyPr wrap="none" lIns="102108" tIns="42545" rIns="102108" bIns="42545" rtlCol="0" anchor="t">
            <a:spAutoFit/>
          </a:bodyPr>
          <a:lstStyle/>
          <a:p>
            <a:pPr algn="l" indent="0" marL="0">
              <a:buNone/>
            </a:pPr>
            <a:r>
              <a:rPr lang="en-US" sz="700" b="1" dirty="0">
                <a:solidFill>
                  <a:srgbClr val="FFFFFF"/>
                </a:solidFill>
                <a:latin typeface="Inter ExtraBold" pitchFamily="34" charset="0"/>
                <a:ea typeface="Inter ExtraBold" pitchFamily="34" charset="-122"/>
                <a:cs typeface="Inter ExtraBold" pitchFamily="34" charset="-120"/>
              </a:rPr>
              <a:t>15+ FPS</a:t>
            </a:r>
            <a:endParaRPr lang="en-US" sz="700" dirty="0"/>
          </a:p>
        </p:txBody>
      </p:sp>
      <p:sp>
        <p:nvSpPr>
          <p:cNvPr id="9" name="Shape 5"/>
          <p:cNvSpPr/>
          <p:nvPr/>
        </p:nvSpPr>
        <p:spPr>
          <a:xfrm>
            <a:off x="785813" y="2075259"/>
            <a:ext cx="371475" cy="371475"/>
          </a:xfrm>
          <a:prstGeom prst="rect">
            <a:avLst/>
          </a:prstGeom>
          <a:solidFill>
            <a:srgbClr val="FF5722">
              <a:alpha val="10000"/>
            </a:srgbClr>
          </a:solidFill>
          <a:ln w="9144">
            <a:solidFill>
              <a:srgbClr val="FF5722"/>
            </a:solidFill>
            <a:prstDash val="solid"/>
          </a:ln>
        </p:spPr>
      </p:sp>
      <p:pic>
        <p:nvPicPr>
          <p:cNvPr id="10" name="Image 1" descr="preencoded.png">    </p:cNvPr>
          <p:cNvPicPr>
            <a:picLocks noChangeAspect="1"/>
          </p:cNvPicPr>
          <p:nvPr/>
        </p:nvPicPr>
        <p:blipFill>
          <a:blip r:embed="rId2"/>
          <a:stretch>
            <a:fillRect/>
          </a:stretch>
        </p:blipFill>
        <p:spPr>
          <a:xfrm>
            <a:off x="910828" y="2182416"/>
            <a:ext cx="107156" cy="142875"/>
          </a:xfrm>
          <a:prstGeom prst="rect">
            <a:avLst/>
          </a:prstGeom>
        </p:spPr>
      </p:pic>
      <p:sp>
        <p:nvSpPr>
          <p:cNvPr id="11" name="Text 6"/>
          <p:cNvSpPr/>
          <p:nvPr/>
        </p:nvSpPr>
        <p:spPr>
          <a:xfrm>
            <a:off x="1250156" y="2132409"/>
            <a:ext cx="1546622"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ExtraBold" pitchFamily="34" charset="0"/>
                <a:ea typeface="Inter ExtraBold" pitchFamily="34" charset="-122"/>
                <a:cs typeface="Inter ExtraBold" pitchFamily="34" charset="-120"/>
              </a:rPr>
              <a:t>Capture Thread</a:t>
            </a:r>
            <a:endParaRPr lang="en-US" sz="1400" dirty="0"/>
          </a:p>
        </p:txBody>
      </p:sp>
      <p:sp>
        <p:nvSpPr>
          <p:cNvPr id="12" name="Shape 7"/>
          <p:cNvSpPr/>
          <p:nvPr/>
        </p:nvSpPr>
        <p:spPr>
          <a:xfrm>
            <a:off x="785813" y="2646759"/>
            <a:ext cx="3193256" cy="535781"/>
          </a:xfrm>
          <a:prstGeom prst="rect">
            <a:avLst/>
          </a:prstGeom>
          <a:solidFill>
            <a:srgbClr val="FFFFFF">
              <a:alpha val="5000"/>
            </a:srgbClr>
          </a:solidFill>
          <a:ln/>
        </p:spPr>
      </p:sp>
      <p:sp>
        <p:nvSpPr>
          <p:cNvPr id="13" name="Shape 8"/>
          <p:cNvSpPr/>
          <p:nvPr/>
        </p:nvSpPr>
        <p:spPr>
          <a:xfrm>
            <a:off x="785813" y="2646759"/>
            <a:ext cx="21431" cy="535781"/>
          </a:xfrm>
          <a:prstGeom prst="rect">
            <a:avLst/>
          </a:prstGeom>
          <a:solidFill>
            <a:srgbClr val="FF5722"/>
          </a:solidFill>
          <a:ln/>
        </p:spPr>
      </p:sp>
      <p:sp>
        <p:nvSpPr>
          <p:cNvPr id="14" name="Text 9"/>
          <p:cNvSpPr/>
          <p:nvPr/>
        </p:nvSpPr>
        <p:spPr>
          <a:xfrm>
            <a:off x="928688" y="2753916"/>
            <a:ext cx="3050381" cy="121444"/>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Inter ExtraBold" pitchFamily="34" charset="0"/>
                <a:ea typeface="Inter ExtraBold" pitchFamily="34" charset="-122"/>
                <a:cs typeface="Inter ExtraBold" pitchFamily="34" charset="-120"/>
              </a:rPr>
              <a:t>INPUT</a:t>
            </a:r>
            <a:endParaRPr lang="en-US" sz="700" dirty="0"/>
          </a:p>
        </p:txBody>
      </p:sp>
      <p:sp>
        <p:nvSpPr>
          <p:cNvPr id="15" name="Text 10"/>
          <p:cNvSpPr/>
          <p:nvPr/>
        </p:nvSpPr>
        <p:spPr>
          <a:xfrm>
            <a:off x="928688" y="2911078"/>
            <a:ext cx="3050381" cy="155377"/>
          </a:xfrm>
          <a:prstGeom prst="rect">
            <a:avLst/>
          </a:prstGeom>
          <a:noFill/>
          <a:ln/>
        </p:spPr>
        <p:txBody>
          <a:bodyPr wrap="square" lIns="0" tIns="0" rIns="0" bIns="0" rtlCol="0" anchor="t">
            <a:spAutoFit/>
          </a:bodyPr>
          <a:lstStyle/>
          <a:p>
            <a:pPr algn="l" indent="0" marL="0">
              <a:buNone/>
            </a:pPr>
            <a:r>
              <a:rPr lang="en-US" sz="950" dirty="0">
                <a:solidFill>
                  <a:srgbClr val="D1D5DB"/>
                </a:solidFill>
                <a:latin typeface="Inter" pitchFamily="34" charset="0"/>
                <a:ea typeface="Inter" pitchFamily="34" charset="-122"/>
                <a:cs typeface="Inter" pitchFamily="34" charset="-120"/>
              </a:rPr>
              <a:t>Read raw frames from camera</a:t>
            </a:r>
            <a:endParaRPr lang="en-US" sz="950" dirty="0"/>
          </a:p>
        </p:txBody>
      </p:sp>
      <p:sp>
        <p:nvSpPr>
          <p:cNvPr id="16" name="Shape 11"/>
          <p:cNvSpPr/>
          <p:nvPr/>
        </p:nvSpPr>
        <p:spPr>
          <a:xfrm>
            <a:off x="785813" y="3289697"/>
            <a:ext cx="3193256" cy="535781"/>
          </a:xfrm>
          <a:prstGeom prst="rect">
            <a:avLst/>
          </a:prstGeom>
          <a:solidFill>
            <a:srgbClr val="FFFFFF">
              <a:alpha val="5000"/>
            </a:srgbClr>
          </a:solidFill>
          <a:ln/>
        </p:spPr>
      </p:sp>
      <p:sp>
        <p:nvSpPr>
          <p:cNvPr id="17" name="Shape 12"/>
          <p:cNvSpPr/>
          <p:nvPr/>
        </p:nvSpPr>
        <p:spPr>
          <a:xfrm>
            <a:off x="785813" y="3289697"/>
            <a:ext cx="21431" cy="535781"/>
          </a:xfrm>
          <a:prstGeom prst="rect">
            <a:avLst/>
          </a:prstGeom>
          <a:solidFill>
            <a:srgbClr val="FF5722"/>
          </a:solidFill>
          <a:ln/>
        </p:spPr>
      </p:sp>
      <p:sp>
        <p:nvSpPr>
          <p:cNvPr id="18" name="Text 13"/>
          <p:cNvSpPr/>
          <p:nvPr/>
        </p:nvSpPr>
        <p:spPr>
          <a:xfrm>
            <a:off x="928688" y="3396853"/>
            <a:ext cx="3050381" cy="121444"/>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Inter ExtraBold" pitchFamily="34" charset="0"/>
                <a:ea typeface="Inter ExtraBold" pitchFamily="34" charset="-122"/>
                <a:cs typeface="Inter ExtraBold" pitchFamily="34" charset="-120"/>
              </a:rPr>
              <a:t>UI RENDER</a:t>
            </a:r>
            <a:endParaRPr lang="en-US" sz="700" dirty="0"/>
          </a:p>
        </p:txBody>
      </p:sp>
      <p:sp>
        <p:nvSpPr>
          <p:cNvPr id="19" name="Text 14"/>
          <p:cNvSpPr/>
          <p:nvPr/>
        </p:nvSpPr>
        <p:spPr>
          <a:xfrm>
            <a:off x="928688" y="3554016"/>
            <a:ext cx="3050381" cy="155377"/>
          </a:xfrm>
          <a:prstGeom prst="rect">
            <a:avLst/>
          </a:prstGeom>
          <a:noFill/>
          <a:ln/>
        </p:spPr>
        <p:txBody>
          <a:bodyPr wrap="square" lIns="0" tIns="0" rIns="0" bIns="0" rtlCol="0" anchor="t">
            <a:spAutoFit/>
          </a:bodyPr>
          <a:lstStyle/>
          <a:p>
            <a:pPr algn="l" indent="0" marL="0">
              <a:buNone/>
            </a:pPr>
            <a:r>
              <a:rPr lang="en-US" sz="950" dirty="0">
                <a:solidFill>
                  <a:srgbClr val="D1D5DB"/>
                </a:solidFill>
                <a:latin typeface="Inter" pitchFamily="34" charset="0"/>
                <a:ea typeface="Inter" pitchFamily="34" charset="-122"/>
                <a:cs typeface="Inter" pitchFamily="34" charset="-120"/>
              </a:rPr>
              <a:t>Draw cached bounding boxes</a:t>
            </a:r>
            <a:endParaRPr lang="en-US" sz="950" dirty="0"/>
          </a:p>
        </p:txBody>
      </p:sp>
      <p:sp>
        <p:nvSpPr>
          <p:cNvPr id="20" name="Shape 15"/>
          <p:cNvSpPr/>
          <p:nvPr/>
        </p:nvSpPr>
        <p:spPr>
          <a:xfrm>
            <a:off x="785813" y="3932634"/>
            <a:ext cx="3193256" cy="535781"/>
          </a:xfrm>
          <a:prstGeom prst="rect">
            <a:avLst/>
          </a:prstGeom>
          <a:solidFill>
            <a:srgbClr val="FFFFFF">
              <a:alpha val="5000"/>
            </a:srgbClr>
          </a:solidFill>
          <a:ln/>
        </p:spPr>
      </p:sp>
      <p:sp>
        <p:nvSpPr>
          <p:cNvPr id="21" name="Shape 16"/>
          <p:cNvSpPr/>
          <p:nvPr/>
        </p:nvSpPr>
        <p:spPr>
          <a:xfrm>
            <a:off x="785813" y="3932634"/>
            <a:ext cx="21431" cy="535781"/>
          </a:xfrm>
          <a:prstGeom prst="rect">
            <a:avLst/>
          </a:prstGeom>
          <a:solidFill>
            <a:srgbClr val="FF5722"/>
          </a:solidFill>
          <a:ln/>
        </p:spPr>
      </p:sp>
      <p:sp>
        <p:nvSpPr>
          <p:cNvPr id="22" name="Text 17"/>
          <p:cNvSpPr/>
          <p:nvPr/>
        </p:nvSpPr>
        <p:spPr>
          <a:xfrm>
            <a:off x="928688" y="4039791"/>
            <a:ext cx="3050381" cy="121444"/>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Inter ExtraBold" pitchFamily="34" charset="0"/>
                <a:ea typeface="Inter ExtraBold" pitchFamily="34" charset="-122"/>
                <a:cs typeface="Inter ExtraBold" pitchFamily="34" charset="-120"/>
              </a:rPr>
              <a:t>OUTPUT</a:t>
            </a:r>
            <a:endParaRPr lang="en-US" sz="700" dirty="0"/>
          </a:p>
        </p:txBody>
      </p:sp>
      <p:sp>
        <p:nvSpPr>
          <p:cNvPr id="23" name="Text 18"/>
          <p:cNvSpPr/>
          <p:nvPr/>
        </p:nvSpPr>
        <p:spPr>
          <a:xfrm>
            <a:off x="928688" y="4196953"/>
            <a:ext cx="3050381" cy="155377"/>
          </a:xfrm>
          <a:prstGeom prst="rect">
            <a:avLst/>
          </a:prstGeom>
          <a:noFill/>
          <a:ln/>
        </p:spPr>
        <p:txBody>
          <a:bodyPr wrap="square" lIns="0" tIns="0" rIns="0" bIns="0" rtlCol="0" anchor="t">
            <a:spAutoFit/>
          </a:bodyPr>
          <a:lstStyle/>
          <a:p>
            <a:pPr algn="l" indent="0" marL="0">
              <a:buNone/>
            </a:pPr>
            <a:r>
              <a:rPr lang="en-US" sz="950" dirty="0">
                <a:solidFill>
                  <a:srgbClr val="D1D5DB"/>
                </a:solidFill>
                <a:latin typeface="Inter" pitchFamily="34" charset="0"/>
                <a:ea typeface="Inter" pitchFamily="34" charset="-122"/>
                <a:cs typeface="Inter" pitchFamily="34" charset="-120"/>
              </a:rPr>
              <a:t>Stream MJPEG to React Frontend</a:t>
            </a:r>
            <a:endParaRPr lang="en-US" sz="950" dirty="0"/>
          </a:p>
        </p:txBody>
      </p:sp>
      <p:sp>
        <p:nvSpPr>
          <p:cNvPr id="24" name="Text 19"/>
          <p:cNvSpPr/>
          <p:nvPr/>
        </p:nvSpPr>
        <p:spPr>
          <a:xfrm>
            <a:off x="4504134" y="1816298"/>
            <a:ext cx="121444" cy="1219795"/>
          </a:xfrm>
          <a:prstGeom prst="rect">
            <a:avLst/>
          </a:prstGeom>
          <a:noFill/>
          <a:ln/>
        </p:spPr>
        <p:txBody>
          <a:bodyPr wrap="none" lIns="0" tIns="0" rIns="0" bIns="0" rtlCol="0" anchor="t">
            <a:spAutoFit/>
          </a:bodyPr>
          <a:lstStyle/>
          <a:p>
            <a:pPr algn="l" indent="0" marL="0">
              <a:buNone/>
            </a:pPr>
            <a:r>
              <a:rPr lang="en-US" sz="700" b="1" spc="2" kern="0" dirty="0">
                <a:solidFill>
                  <a:srgbClr val="FF5722">
                    <a:alpha val="50000"/>
                  </a:srgbClr>
                </a:solidFill>
                <a:latin typeface="Inter ExtraBold" pitchFamily="34" charset="0"/>
                <a:ea typeface="Inter ExtraBold" pitchFamily="34" charset="-122"/>
                <a:cs typeface="Inter ExtraBold" pitchFamily="34" charset="-120"/>
              </a:rPr>
              <a:t>THREAD SAFE DATA</a:t>
            </a:r>
            <a:endParaRPr lang="en-US" sz="700" dirty="0"/>
          </a:p>
        </p:txBody>
      </p:sp>
      <p:pic>
        <p:nvPicPr>
          <p:cNvPr id="25" name="Image 2" descr="preencoded.png">    </p:cNvPr>
          <p:cNvPicPr>
            <a:picLocks noChangeAspect="1"/>
          </p:cNvPicPr>
          <p:nvPr/>
        </p:nvPicPr>
        <p:blipFill>
          <a:blip r:embed="rId3"/>
          <a:stretch>
            <a:fillRect/>
          </a:stretch>
        </p:blipFill>
        <p:spPr>
          <a:xfrm>
            <a:off x="4479131" y="3178969"/>
            <a:ext cx="171450" cy="171450"/>
          </a:xfrm>
          <a:prstGeom prst="rect">
            <a:avLst/>
          </a:prstGeom>
        </p:spPr>
      </p:pic>
      <p:sp>
        <p:nvSpPr>
          <p:cNvPr id="26" name="Text 20"/>
          <p:cNvSpPr/>
          <p:nvPr/>
        </p:nvSpPr>
        <p:spPr>
          <a:xfrm>
            <a:off x="4504134" y="3493294"/>
            <a:ext cx="121444" cy="1569839"/>
          </a:xfrm>
          <a:prstGeom prst="rect">
            <a:avLst/>
          </a:prstGeom>
          <a:noFill/>
          <a:ln/>
        </p:spPr>
        <p:txBody>
          <a:bodyPr wrap="none" lIns="0" tIns="0" rIns="0" bIns="0" rtlCol="0" anchor="t">
            <a:spAutoFit/>
          </a:bodyPr>
          <a:lstStyle/>
          <a:p>
            <a:pPr algn="l" indent="0" marL="0">
              <a:buNone/>
            </a:pPr>
            <a:r>
              <a:rPr lang="en-US" sz="700" b="1" spc="2" kern="0" dirty="0">
                <a:solidFill>
                  <a:srgbClr val="FF5722">
                    <a:alpha val="50000"/>
                  </a:srgbClr>
                </a:solidFill>
                <a:latin typeface="Inter ExtraBold" pitchFamily="34" charset="0"/>
                <a:ea typeface="Inter ExtraBold" pitchFamily="34" charset="-122"/>
                <a:cs typeface="Inter ExtraBold" pitchFamily="34" charset="-120"/>
              </a:rPr>
              <a:t>ASYNC COMMUNICATION</a:t>
            </a:r>
            <a:endParaRPr lang="en-US" sz="700" dirty="0"/>
          </a:p>
        </p:txBody>
      </p:sp>
      <p:sp>
        <p:nvSpPr>
          <p:cNvPr id="27" name="Shape 21"/>
          <p:cNvSpPr/>
          <p:nvPr/>
        </p:nvSpPr>
        <p:spPr>
          <a:xfrm>
            <a:off x="4936331" y="1789509"/>
            <a:ext cx="3636169" cy="3300413"/>
          </a:xfrm>
          <a:prstGeom prst="rect">
            <a:avLst/>
          </a:prstGeom>
          <a:solidFill>
            <a:srgbClr val="FFFFFF">
              <a:alpha val="3000"/>
            </a:srgbClr>
          </a:solidFill>
          <a:ln w="9144">
            <a:solidFill>
              <a:srgbClr val="FFFFFF">
                <a:alpha val="10000"/>
              </a:srgbClr>
            </a:solidFill>
            <a:prstDash val="solid"/>
          </a:ln>
        </p:spPr>
      </p:sp>
      <p:sp>
        <p:nvSpPr>
          <p:cNvPr id="28" name="Shape 22"/>
          <p:cNvSpPr/>
          <p:nvPr/>
        </p:nvSpPr>
        <p:spPr>
          <a:xfrm>
            <a:off x="7870627" y="1932384"/>
            <a:ext cx="558998" cy="192881"/>
          </a:xfrm>
          <a:prstGeom prst="rect">
            <a:avLst/>
          </a:prstGeom>
          <a:solidFill>
            <a:srgbClr val="FF5722"/>
          </a:solidFill>
          <a:ln/>
        </p:spPr>
      </p:sp>
      <p:sp>
        <p:nvSpPr>
          <p:cNvPr id="29" name="Text 23"/>
          <p:cNvSpPr/>
          <p:nvPr/>
        </p:nvSpPr>
        <p:spPr>
          <a:xfrm>
            <a:off x="7870627" y="1932384"/>
            <a:ext cx="558998" cy="192881"/>
          </a:xfrm>
          <a:prstGeom prst="rect">
            <a:avLst/>
          </a:prstGeom>
          <a:noFill/>
          <a:ln/>
        </p:spPr>
        <p:txBody>
          <a:bodyPr wrap="none" lIns="102108" tIns="42545" rIns="102108" bIns="42545" rtlCol="0" anchor="t">
            <a:spAutoFit/>
          </a:bodyPr>
          <a:lstStyle/>
          <a:p>
            <a:pPr algn="l" indent="0" marL="0">
              <a:buNone/>
            </a:pPr>
            <a:r>
              <a:rPr lang="en-US" sz="700" b="1" dirty="0">
                <a:solidFill>
                  <a:srgbClr val="FFFFFF"/>
                </a:solidFill>
                <a:latin typeface="Inter ExtraBold" pitchFamily="34" charset="0"/>
                <a:ea typeface="Inter ExtraBold" pitchFamily="34" charset="-122"/>
                <a:cs typeface="Inter ExtraBold" pitchFamily="34" charset="-120"/>
              </a:rPr>
              <a:t>2-5 FPS</a:t>
            </a:r>
            <a:endParaRPr lang="en-US" sz="700" dirty="0"/>
          </a:p>
        </p:txBody>
      </p:sp>
      <p:sp>
        <p:nvSpPr>
          <p:cNvPr id="30" name="Shape 24"/>
          <p:cNvSpPr/>
          <p:nvPr/>
        </p:nvSpPr>
        <p:spPr>
          <a:xfrm>
            <a:off x="5157788" y="2075259"/>
            <a:ext cx="371475" cy="371475"/>
          </a:xfrm>
          <a:prstGeom prst="rect">
            <a:avLst/>
          </a:prstGeom>
          <a:solidFill>
            <a:srgbClr val="FF5722">
              <a:alpha val="10000"/>
            </a:srgbClr>
          </a:solidFill>
          <a:ln w="9144">
            <a:solidFill>
              <a:srgbClr val="FF5722"/>
            </a:solidFill>
            <a:prstDash val="solid"/>
          </a:ln>
        </p:spPr>
      </p:sp>
      <p:pic>
        <p:nvPicPr>
          <p:cNvPr id="31" name="Image 3" descr="preencoded.png">    </p:cNvPr>
          <p:cNvPicPr>
            <a:picLocks noChangeAspect="1"/>
          </p:cNvPicPr>
          <p:nvPr/>
        </p:nvPicPr>
        <p:blipFill>
          <a:blip r:embed="rId4"/>
          <a:stretch>
            <a:fillRect/>
          </a:stretch>
        </p:blipFill>
        <p:spPr>
          <a:xfrm>
            <a:off x="5264944" y="2182416"/>
            <a:ext cx="142875" cy="142875"/>
          </a:xfrm>
          <a:prstGeom prst="rect">
            <a:avLst/>
          </a:prstGeom>
        </p:spPr>
      </p:pic>
      <p:sp>
        <p:nvSpPr>
          <p:cNvPr id="32" name="Text 25"/>
          <p:cNvSpPr/>
          <p:nvPr/>
        </p:nvSpPr>
        <p:spPr>
          <a:xfrm>
            <a:off x="5622131" y="2132409"/>
            <a:ext cx="1941314" cy="242888"/>
          </a:xfrm>
          <a:prstGeom prst="rect">
            <a:avLst/>
          </a:prstGeom>
          <a:noFill/>
          <a:ln/>
        </p:spPr>
        <p:txBody>
          <a:bodyPr wrap="square" lIns="0" tIns="0" rIns="0" bIns="0" rtlCol="0" anchor="t">
            <a:spAutoFit/>
          </a:bodyPr>
          <a:lstStyle/>
          <a:p>
            <a:pPr algn="l" indent="0" marL="0">
              <a:buNone/>
            </a:pPr>
            <a:r>
              <a:rPr lang="en-US" sz="1400" b="1" dirty="0">
                <a:solidFill>
                  <a:srgbClr val="FFFFFF"/>
                </a:solidFill>
                <a:latin typeface="Inter ExtraBold" pitchFamily="34" charset="0"/>
                <a:ea typeface="Inter ExtraBold" pitchFamily="34" charset="-122"/>
                <a:cs typeface="Inter ExtraBold" pitchFamily="34" charset="-120"/>
              </a:rPr>
              <a:t>Recognition Thread</a:t>
            </a:r>
            <a:endParaRPr lang="en-US" sz="1400" dirty="0"/>
          </a:p>
        </p:txBody>
      </p:sp>
      <p:sp>
        <p:nvSpPr>
          <p:cNvPr id="33" name="Shape 26"/>
          <p:cNvSpPr/>
          <p:nvPr/>
        </p:nvSpPr>
        <p:spPr>
          <a:xfrm>
            <a:off x="5157788" y="2646759"/>
            <a:ext cx="3200400" cy="535781"/>
          </a:xfrm>
          <a:prstGeom prst="rect">
            <a:avLst/>
          </a:prstGeom>
          <a:solidFill>
            <a:srgbClr val="FFFFFF">
              <a:alpha val="5000"/>
            </a:srgbClr>
          </a:solidFill>
          <a:ln/>
        </p:spPr>
      </p:sp>
      <p:sp>
        <p:nvSpPr>
          <p:cNvPr id="34" name="Shape 27"/>
          <p:cNvSpPr/>
          <p:nvPr/>
        </p:nvSpPr>
        <p:spPr>
          <a:xfrm>
            <a:off x="5157788" y="2646759"/>
            <a:ext cx="21431" cy="535781"/>
          </a:xfrm>
          <a:prstGeom prst="rect">
            <a:avLst/>
          </a:prstGeom>
          <a:solidFill>
            <a:srgbClr val="FF5722"/>
          </a:solidFill>
          <a:ln/>
        </p:spPr>
      </p:sp>
      <p:sp>
        <p:nvSpPr>
          <p:cNvPr id="35" name="Text 28"/>
          <p:cNvSpPr/>
          <p:nvPr/>
        </p:nvSpPr>
        <p:spPr>
          <a:xfrm>
            <a:off x="5300663" y="2753916"/>
            <a:ext cx="3057525" cy="121444"/>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Inter ExtraBold" pitchFamily="34" charset="0"/>
                <a:ea typeface="Inter ExtraBold" pitchFamily="34" charset="-122"/>
                <a:cs typeface="Inter ExtraBold" pitchFamily="34" charset="-120"/>
              </a:rPr>
              <a:t>DETECTION</a:t>
            </a:r>
            <a:endParaRPr lang="en-US" sz="700" dirty="0"/>
          </a:p>
        </p:txBody>
      </p:sp>
      <p:sp>
        <p:nvSpPr>
          <p:cNvPr id="36" name="Text 29"/>
          <p:cNvSpPr/>
          <p:nvPr/>
        </p:nvSpPr>
        <p:spPr>
          <a:xfrm>
            <a:off x="5300663" y="2911078"/>
            <a:ext cx="3057525" cy="155377"/>
          </a:xfrm>
          <a:prstGeom prst="rect">
            <a:avLst/>
          </a:prstGeom>
          <a:noFill/>
          <a:ln/>
        </p:spPr>
        <p:txBody>
          <a:bodyPr wrap="square" lIns="0" tIns="0" rIns="0" bIns="0" rtlCol="0" anchor="t">
            <a:spAutoFit/>
          </a:bodyPr>
          <a:lstStyle/>
          <a:p>
            <a:pPr algn="l" indent="0" marL="0">
              <a:buNone/>
            </a:pPr>
            <a:r>
              <a:rPr lang="en-US" sz="950" dirty="0">
                <a:solidFill>
                  <a:srgbClr val="D1D5DB"/>
                </a:solidFill>
                <a:latin typeface="Inter" pitchFamily="34" charset="0"/>
                <a:ea typeface="Inter" pitchFamily="34" charset="-122"/>
                <a:cs typeface="Inter" pitchFamily="34" charset="-120"/>
              </a:rPr>
              <a:t>HOG model finds face locations</a:t>
            </a:r>
            <a:endParaRPr lang="en-US" sz="950" dirty="0"/>
          </a:p>
        </p:txBody>
      </p:sp>
      <p:sp>
        <p:nvSpPr>
          <p:cNvPr id="37" name="Shape 30"/>
          <p:cNvSpPr/>
          <p:nvPr/>
        </p:nvSpPr>
        <p:spPr>
          <a:xfrm>
            <a:off x="5157788" y="3289697"/>
            <a:ext cx="3200400" cy="535781"/>
          </a:xfrm>
          <a:prstGeom prst="rect">
            <a:avLst/>
          </a:prstGeom>
          <a:solidFill>
            <a:srgbClr val="FFFFFF">
              <a:alpha val="5000"/>
            </a:srgbClr>
          </a:solidFill>
          <a:ln/>
        </p:spPr>
      </p:sp>
      <p:sp>
        <p:nvSpPr>
          <p:cNvPr id="38" name="Shape 31"/>
          <p:cNvSpPr/>
          <p:nvPr/>
        </p:nvSpPr>
        <p:spPr>
          <a:xfrm>
            <a:off x="5157788" y="3289697"/>
            <a:ext cx="21431" cy="535781"/>
          </a:xfrm>
          <a:prstGeom prst="rect">
            <a:avLst/>
          </a:prstGeom>
          <a:solidFill>
            <a:srgbClr val="FF5722"/>
          </a:solidFill>
          <a:ln/>
        </p:spPr>
      </p:sp>
      <p:sp>
        <p:nvSpPr>
          <p:cNvPr id="39" name="Text 32"/>
          <p:cNvSpPr/>
          <p:nvPr/>
        </p:nvSpPr>
        <p:spPr>
          <a:xfrm>
            <a:off x="5300663" y="3396853"/>
            <a:ext cx="3057525" cy="121444"/>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Inter ExtraBold" pitchFamily="34" charset="0"/>
                <a:ea typeface="Inter ExtraBold" pitchFamily="34" charset="-122"/>
                <a:cs typeface="Inter ExtraBold" pitchFamily="34" charset="-120"/>
              </a:rPr>
              <a:t>ENCODING</a:t>
            </a:r>
            <a:endParaRPr lang="en-US" sz="700" dirty="0"/>
          </a:p>
        </p:txBody>
      </p:sp>
      <p:sp>
        <p:nvSpPr>
          <p:cNvPr id="40" name="Text 33"/>
          <p:cNvSpPr/>
          <p:nvPr/>
        </p:nvSpPr>
        <p:spPr>
          <a:xfrm>
            <a:off x="5300663" y="3554016"/>
            <a:ext cx="3057525" cy="155377"/>
          </a:xfrm>
          <a:prstGeom prst="rect">
            <a:avLst/>
          </a:prstGeom>
          <a:noFill/>
          <a:ln/>
        </p:spPr>
        <p:txBody>
          <a:bodyPr wrap="square" lIns="0" tIns="0" rIns="0" bIns="0" rtlCol="0" anchor="t">
            <a:spAutoFit/>
          </a:bodyPr>
          <a:lstStyle/>
          <a:p>
            <a:pPr algn="l" indent="0" marL="0">
              <a:buNone/>
            </a:pPr>
            <a:r>
              <a:rPr lang="en-US" sz="950" dirty="0">
                <a:solidFill>
                  <a:srgbClr val="D1D5DB"/>
                </a:solidFill>
                <a:latin typeface="Inter" pitchFamily="34" charset="0"/>
                <a:ea typeface="Inter" pitchFamily="34" charset="-122"/>
                <a:cs typeface="Inter" pitchFamily="34" charset="-120"/>
              </a:rPr>
              <a:t>Generate 128-d face vectors</a:t>
            </a:r>
            <a:endParaRPr lang="en-US" sz="950" dirty="0"/>
          </a:p>
        </p:txBody>
      </p:sp>
      <p:sp>
        <p:nvSpPr>
          <p:cNvPr id="41" name="Shape 34"/>
          <p:cNvSpPr/>
          <p:nvPr/>
        </p:nvSpPr>
        <p:spPr>
          <a:xfrm>
            <a:off x="5157788" y="3932634"/>
            <a:ext cx="3200400" cy="535781"/>
          </a:xfrm>
          <a:prstGeom prst="rect">
            <a:avLst/>
          </a:prstGeom>
          <a:solidFill>
            <a:srgbClr val="FFFFFF">
              <a:alpha val="5000"/>
            </a:srgbClr>
          </a:solidFill>
          <a:ln/>
        </p:spPr>
      </p:sp>
      <p:sp>
        <p:nvSpPr>
          <p:cNvPr id="42" name="Shape 35"/>
          <p:cNvSpPr/>
          <p:nvPr/>
        </p:nvSpPr>
        <p:spPr>
          <a:xfrm>
            <a:off x="5157788" y="3932634"/>
            <a:ext cx="21431" cy="535781"/>
          </a:xfrm>
          <a:prstGeom prst="rect">
            <a:avLst/>
          </a:prstGeom>
          <a:solidFill>
            <a:srgbClr val="FF5722"/>
          </a:solidFill>
          <a:ln/>
        </p:spPr>
      </p:sp>
      <p:sp>
        <p:nvSpPr>
          <p:cNvPr id="43" name="Text 36"/>
          <p:cNvSpPr/>
          <p:nvPr/>
        </p:nvSpPr>
        <p:spPr>
          <a:xfrm>
            <a:off x="5300663" y="4039791"/>
            <a:ext cx="3057525" cy="121444"/>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Inter ExtraBold" pitchFamily="34" charset="0"/>
                <a:ea typeface="Inter ExtraBold" pitchFamily="34" charset="-122"/>
                <a:cs typeface="Inter ExtraBold" pitchFamily="34" charset="-120"/>
              </a:rPr>
              <a:t>MATCHING</a:t>
            </a:r>
            <a:endParaRPr lang="en-US" sz="700" dirty="0"/>
          </a:p>
        </p:txBody>
      </p:sp>
      <p:sp>
        <p:nvSpPr>
          <p:cNvPr id="44" name="Text 37"/>
          <p:cNvSpPr/>
          <p:nvPr/>
        </p:nvSpPr>
        <p:spPr>
          <a:xfrm>
            <a:off x="5300663" y="4196953"/>
            <a:ext cx="3057525" cy="155377"/>
          </a:xfrm>
          <a:prstGeom prst="rect">
            <a:avLst/>
          </a:prstGeom>
          <a:noFill/>
          <a:ln/>
        </p:spPr>
        <p:txBody>
          <a:bodyPr wrap="square" lIns="0" tIns="0" rIns="0" bIns="0" rtlCol="0" anchor="t">
            <a:spAutoFit/>
          </a:bodyPr>
          <a:lstStyle/>
          <a:p>
            <a:pPr algn="l" indent="0" marL="0">
              <a:buNone/>
            </a:pPr>
            <a:r>
              <a:rPr lang="en-US" sz="950" dirty="0">
                <a:solidFill>
                  <a:srgbClr val="D1D5DB"/>
                </a:solidFill>
                <a:latin typeface="Inter" pitchFamily="34" charset="0"/>
                <a:ea typeface="Inter" pitchFamily="34" charset="-122"/>
                <a:cs typeface="Inter" pitchFamily="34" charset="-120"/>
              </a:rPr>
              <a:t>Compare &amp; Mark Attendance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Live Attendance Experience</a:t>
            </a:r>
            <a:endParaRPr lang="en-US" sz="3300" dirty="0"/>
          </a:p>
        </p:txBody>
      </p:sp>
      <p:sp>
        <p:nvSpPr>
          <p:cNvPr id="5" name="Shape 1"/>
          <p:cNvSpPr/>
          <p:nvPr/>
        </p:nvSpPr>
        <p:spPr>
          <a:xfrm>
            <a:off x="571500" y="1510903"/>
            <a:ext cx="4136873" cy="3014663"/>
          </a:xfrm>
          <a:prstGeom prst="rect">
            <a:avLst/>
          </a:prstGeom>
          <a:solidFill>
            <a:srgbClr val="FFFFFF">
              <a:alpha val="3000"/>
            </a:srgbClr>
          </a:solidFill>
          <a:ln w="9144">
            <a:solidFill>
              <a:srgbClr val="FFFFFF">
                <a:alpha val="10000"/>
              </a:srgbClr>
            </a:solidFill>
            <a:prstDash val="solid"/>
          </a:ln>
        </p:spPr>
      </p:sp>
      <p:sp>
        <p:nvSpPr>
          <p:cNvPr id="6" name="Shape 2"/>
          <p:cNvSpPr/>
          <p:nvPr/>
        </p:nvSpPr>
        <p:spPr>
          <a:xfrm>
            <a:off x="714375" y="1653778"/>
            <a:ext cx="3844649" cy="2714625"/>
          </a:xfrm>
          <a:prstGeom prst="rect">
            <a:avLst/>
          </a:prstGeom>
          <a:solidFill>
            <a:srgbClr val="000000">
              <a:alpha val="40000"/>
            </a:srgbClr>
          </a:solidFill>
          <a:ln w="18288">
            <a:solidFill>
              <a:srgbClr val="FFFFFF">
                <a:alpha val="10000"/>
              </a:srgbClr>
            </a:solidFill>
            <a:prstDash val="solid"/>
          </a:ln>
        </p:spPr>
      </p:sp>
      <p:sp>
        <p:nvSpPr>
          <p:cNvPr id="7" name="Shape 3"/>
          <p:cNvSpPr/>
          <p:nvPr/>
        </p:nvSpPr>
        <p:spPr>
          <a:xfrm>
            <a:off x="1972317" y="2214563"/>
            <a:ext cx="1328738" cy="1328738"/>
          </a:xfrm>
          <a:prstGeom prst="rect">
            <a:avLst/>
          </a:prstGeom>
          <a:solidFill>
            <a:srgbClr val="000000">
              <a:alpha val="0"/>
            </a:srgbClr>
          </a:solidFill>
          <a:ln w="18288">
            <a:solidFill>
              <a:srgbClr val="4CAF50"/>
            </a:solidFill>
            <a:prstDash val="solid"/>
          </a:ln>
        </p:spPr>
      </p:sp>
      <p:sp>
        <p:nvSpPr>
          <p:cNvPr id="8" name="Shape 4"/>
          <p:cNvSpPr/>
          <p:nvPr/>
        </p:nvSpPr>
        <p:spPr>
          <a:xfrm>
            <a:off x="1972317" y="1985963"/>
            <a:ext cx="1307306" cy="200025"/>
          </a:xfrm>
          <a:prstGeom prst="rect">
            <a:avLst/>
          </a:prstGeom>
          <a:solidFill>
            <a:srgbClr val="4CAF50"/>
          </a:solidFill>
          <a:ln/>
        </p:spPr>
      </p:sp>
      <p:sp>
        <p:nvSpPr>
          <p:cNvPr id="9" name="Text 5"/>
          <p:cNvSpPr/>
          <p:nvPr/>
        </p:nvSpPr>
        <p:spPr>
          <a:xfrm>
            <a:off x="1972317" y="1985963"/>
            <a:ext cx="1307306" cy="200025"/>
          </a:xfrm>
          <a:prstGeom prst="rect">
            <a:avLst/>
          </a:prstGeom>
          <a:noFill/>
          <a:ln/>
        </p:spPr>
        <p:txBody>
          <a:bodyPr wrap="square" lIns="85090" tIns="34036" rIns="85090" bIns="0" rtlCol="0" anchor="t">
            <a:spAutoFit/>
          </a:bodyPr>
          <a:lstStyle/>
          <a:p>
            <a:pPr algn="l" indent="0" marL="0">
              <a:buNone/>
            </a:pPr>
            <a:r>
              <a:rPr lang="en-US" sz="700" b="1" dirty="0">
                <a:solidFill>
                  <a:srgbClr val="FFFFFF"/>
                </a:solidFill>
                <a:latin typeface="Inter ExtraBold" pitchFamily="34" charset="0"/>
                <a:ea typeface="Inter ExtraBold" pitchFamily="34" charset="-122"/>
                <a:cs typeface="Inter ExtraBold" pitchFamily="34" charset="-120"/>
              </a:rPr>
              <a:t>OM AGRAWAL - PRESENT</a:t>
            </a:r>
            <a:endParaRPr lang="en-US" sz="700" dirty="0"/>
          </a:p>
        </p:txBody>
      </p:sp>
      <p:sp>
        <p:nvSpPr>
          <p:cNvPr id="10" name="Text 6"/>
          <p:cNvSpPr/>
          <p:nvPr/>
        </p:nvSpPr>
        <p:spPr>
          <a:xfrm>
            <a:off x="1502615" y="3664744"/>
            <a:ext cx="585788" cy="121444"/>
          </a:xfrm>
          <a:prstGeom prst="rect">
            <a:avLst/>
          </a:prstGeom>
          <a:noFill/>
          <a:ln/>
        </p:spPr>
        <p:txBody>
          <a:bodyPr wrap="none" lIns="0" tIns="0" rIns="0" bIns="0" rtlCol="0" anchor="t">
            <a:spAutoFit/>
          </a:bodyPr>
          <a:lstStyle/>
          <a:p>
            <a:pPr algn="l" indent="0" marL="0">
              <a:buNone/>
            </a:pPr>
            <a:r>
              <a:rPr lang="en-US" sz="700" dirty="0">
                <a:solidFill>
                  <a:srgbClr val="FFFFFF"/>
                </a:solidFill>
                <a:latin typeface="Inter Medium" pitchFamily="34" charset="0"/>
                <a:ea typeface="Inter Medium" pitchFamily="34" charset="-122"/>
                <a:cs typeface="Inter Medium" pitchFamily="34" charset="-120"/>
              </a:rPr>
              <a:t>Recognized</a:t>
            </a:r>
            <a:endParaRPr lang="en-US" sz="700" dirty="0"/>
          </a:p>
        </p:txBody>
      </p:sp>
      <p:sp>
        <p:nvSpPr>
          <p:cNvPr id="11" name="Text 7"/>
          <p:cNvSpPr/>
          <p:nvPr/>
        </p:nvSpPr>
        <p:spPr>
          <a:xfrm>
            <a:off x="2359865" y="3664744"/>
            <a:ext cx="796528" cy="121444"/>
          </a:xfrm>
          <a:prstGeom prst="rect">
            <a:avLst/>
          </a:prstGeom>
          <a:noFill/>
          <a:ln/>
        </p:spPr>
        <p:txBody>
          <a:bodyPr wrap="none" lIns="0" tIns="0" rIns="0" bIns="0" rtlCol="0" anchor="t">
            <a:spAutoFit/>
          </a:bodyPr>
          <a:lstStyle/>
          <a:p>
            <a:pPr algn="l" indent="0" marL="0">
              <a:buNone/>
            </a:pPr>
            <a:r>
              <a:rPr lang="en-US" sz="700" dirty="0">
                <a:solidFill>
                  <a:srgbClr val="FFFFFF"/>
                </a:solidFill>
                <a:latin typeface="Inter Medium" pitchFamily="34" charset="0"/>
                <a:ea typeface="Inter Medium" pitchFamily="34" charset="-122"/>
                <a:cs typeface="Inter Medium" pitchFamily="34" charset="-120"/>
              </a:rPr>
              <a:t>Already Marked</a:t>
            </a:r>
            <a:endParaRPr lang="en-US" sz="700" dirty="0"/>
          </a:p>
        </p:txBody>
      </p:sp>
      <p:sp>
        <p:nvSpPr>
          <p:cNvPr id="12" name="Text 8"/>
          <p:cNvSpPr/>
          <p:nvPr/>
        </p:nvSpPr>
        <p:spPr>
          <a:xfrm>
            <a:off x="3427856" y="3664744"/>
            <a:ext cx="471488" cy="121444"/>
          </a:xfrm>
          <a:prstGeom prst="rect">
            <a:avLst/>
          </a:prstGeom>
          <a:noFill/>
          <a:ln/>
        </p:spPr>
        <p:txBody>
          <a:bodyPr wrap="none" lIns="0" tIns="0" rIns="0" bIns="0" rtlCol="0" anchor="t">
            <a:spAutoFit/>
          </a:bodyPr>
          <a:lstStyle/>
          <a:p>
            <a:pPr algn="l" indent="0" marL="0">
              <a:buNone/>
            </a:pPr>
            <a:r>
              <a:rPr lang="en-US" sz="700" dirty="0">
                <a:solidFill>
                  <a:srgbClr val="FFFFFF"/>
                </a:solidFill>
                <a:latin typeface="Inter Medium" pitchFamily="34" charset="0"/>
                <a:ea typeface="Inter Medium" pitchFamily="34" charset="-122"/>
                <a:cs typeface="Inter Medium" pitchFamily="34" charset="-120"/>
              </a:rPr>
              <a:t>Unknown</a:t>
            </a:r>
            <a:endParaRPr lang="en-US" sz="700" dirty="0"/>
          </a:p>
        </p:txBody>
      </p:sp>
      <p:sp>
        <p:nvSpPr>
          <p:cNvPr id="13" name="Shape 9"/>
          <p:cNvSpPr/>
          <p:nvPr/>
        </p:nvSpPr>
        <p:spPr>
          <a:xfrm>
            <a:off x="5130524" y="1510903"/>
            <a:ext cx="3441976" cy="714375"/>
          </a:xfrm>
          <a:prstGeom prst="rect">
            <a:avLst/>
          </a:prstGeom>
          <a:solidFill>
            <a:srgbClr val="FFFFFF">
              <a:alpha val="3000"/>
            </a:srgbClr>
          </a:solidFill>
          <a:ln/>
        </p:spPr>
      </p:sp>
      <p:sp>
        <p:nvSpPr>
          <p:cNvPr id="14" name="Shape 10"/>
          <p:cNvSpPr/>
          <p:nvPr/>
        </p:nvSpPr>
        <p:spPr>
          <a:xfrm>
            <a:off x="5130524" y="1510903"/>
            <a:ext cx="28575" cy="714375"/>
          </a:xfrm>
          <a:prstGeom prst="rect">
            <a:avLst/>
          </a:prstGeom>
          <a:solidFill>
            <a:srgbClr val="FF5722"/>
          </a:solidFill>
          <a:ln/>
        </p:spPr>
      </p:sp>
      <p:pic>
        <p:nvPicPr>
          <p:cNvPr id="15" name="Image 1" descr="preencoded.png">    </p:cNvPr>
          <p:cNvPicPr>
            <a:picLocks noChangeAspect="1"/>
          </p:cNvPicPr>
          <p:nvPr/>
        </p:nvPicPr>
        <p:blipFill>
          <a:blip r:embed="rId2"/>
          <a:stretch>
            <a:fillRect/>
          </a:stretch>
        </p:blipFill>
        <p:spPr>
          <a:xfrm>
            <a:off x="5309118" y="1684139"/>
            <a:ext cx="160734" cy="128588"/>
          </a:xfrm>
          <a:prstGeom prst="rect">
            <a:avLst/>
          </a:prstGeom>
        </p:spPr>
      </p:pic>
      <p:sp>
        <p:nvSpPr>
          <p:cNvPr id="16" name="Text 11"/>
          <p:cNvSpPr/>
          <p:nvPr/>
        </p:nvSpPr>
        <p:spPr>
          <a:xfrm>
            <a:off x="5555577" y="1653778"/>
            <a:ext cx="1762720" cy="189309"/>
          </a:xfrm>
          <a:prstGeom prst="rect">
            <a:avLst/>
          </a:prstGeom>
          <a:noFill/>
          <a:ln/>
        </p:spPr>
        <p:txBody>
          <a:bodyPr wrap="square" lIns="0" tIns="0" rIns="0" bIns="0" rtlCol="0" anchor="t">
            <a:spAutoFit/>
          </a:bodyPr>
          <a:lstStyle/>
          <a:p>
            <a:pPr algn="l" indent="0" marL="0">
              <a:buNone/>
            </a:pPr>
            <a:r>
              <a:rPr lang="en-US" sz="1100" b="1" dirty="0">
                <a:solidFill>
                  <a:srgbClr val="FFFFFF"/>
                </a:solidFill>
                <a:latin typeface="Inter ExtraBold" pitchFamily="34" charset="0"/>
                <a:ea typeface="Inter ExtraBold" pitchFamily="34" charset="-122"/>
                <a:cs typeface="Inter ExtraBold" pitchFamily="34" charset="-120"/>
              </a:rPr>
              <a:t>Smart Audio Feedback</a:t>
            </a:r>
            <a:endParaRPr lang="en-US" sz="1100" dirty="0"/>
          </a:p>
        </p:txBody>
      </p:sp>
      <p:sp>
        <p:nvSpPr>
          <p:cNvPr id="17" name="Text 12"/>
          <p:cNvSpPr/>
          <p:nvPr/>
        </p:nvSpPr>
        <p:spPr>
          <a:xfrm>
            <a:off x="5309118" y="1900238"/>
            <a:ext cx="3120507"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D1D5DB"/>
                </a:solidFill>
                <a:latin typeface="Inter" pitchFamily="34" charset="0"/>
                <a:ea typeface="Inter" pitchFamily="34" charset="-122"/>
                <a:cs typeface="Inter" pitchFamily="34" charset="-120"/>
              </a:rPr>
              <a:t>Integrated Text-to-Speech (TTS) announces student names instantly upon recognition.</a:t>
            </a:r>
            <a:endParaRPr lang="en-US" sz="850" dirty="0"/>
          </a:p>
        </p:txBody>
      </p:sp>
      <p:sp>
        <p:nvSpPr>
          <p:cNvPr id="18" name="Shape 13"/>
          <p:cNvSpPr/>
          <p:nvPr/>
        </p:nvSpPr>
        <p:spPr>
          <a:xfrm>
            <a:off x="5130524" y="2403872"/>
            <a:ext cx="3441976" cy="714375"/>
          </a:xfrm>
          <a:prstGeom prst="rect">
            <a:avLst/>
          </a:prstGeom>
          <a:solidFill>
            <a:srgbClr val="FFFFFF">
              <a:alpha val="3000"/>
            </a:srgbClr>
          </a:solidFill>
          <a:ln/>
        </p:spPr>
      </p:sp>
      <p:sp>
        <p:nvSpPr>
          <p:cNvPr id="19" name="Shape 14"/>
          <p:cNvSpPr/>
          <p:nvPr/>
        </p:nvSpPr>
        <p:spPr>
          <a:xfrm>
            <a:off x="5130524" y="2403872"/>
            <a:ext cx="28575" cy="714375"/>
          </a:xfrm>
          <a:prstGeom prst="rect">
            <a:avLst/>
          </a:prstGeom>
          <a:solidFill>
            <a:srgbClr val="FF5722"/>
          </a:solidFill>
          <a:ln/>
        </p:spPr>
      </p:sp>
      <p:pic>
        <p:nvPicPr>
          <p:cNvPr id="20" name="Image 2" descr="preencoded.png">    </p:cNvPr>
          <p:cNvPicPr>
            <a:picLocks noChangeAspect="1"/>
          </p:cNvPicPr>
          <p:nvPr/>
        </p:nvPicPr>
        <p:blipFill>
          <a:blip r:embed="rId3"/>
          <a:stretch>
            <a:fillRect/>
          </a:stretch>
        </p:blipFill>
        <p:spPr>
          <a:xfrm>
            <a:off x="5309118" y="2577108"/>
            <a:ext cx="128588" cy="128588"/>
          </a:xfrm>
          <a:prstGeom prst="rect">
            <a:avLst/>
          </a:prstGeom>
        </p:spPr>
      </p:pic>
      <p:sp>
        <p:nvSpPr>
          <p:cNvPr id="21" name="Text 15"/>
          <p:cNvSpPr/>
          <p:nvPr/>
        </p:nvSpPr>
        <p:spPr>
          <a:xfrm>
            <a:off x="5523430" y="2546747"/>
            <a:ext cx="1587698" cy="189309"/>
          </a:xfrm>
          <a:prstGeom prst="rect">
            <a:avLst/>
          </a:prstGeom>
          <a:noFill/>
          <a:ln/>
        </p:spPr>
        <p:txBody>
          <a:bodyPr wrap="square" lIns="0" tIns="0" rIns="0" bIns="0" rtlCol="0" anchor="t">
            <a:spAutoFit/>
          </a:bodyPr>
          <a:lstStyle/>
          <a:p>
            <a:pPr algn="l" indent="0" marL="0">
              <a:buNone/>
            </a:pPr>
            <a:r>
              <a:rPr lang="en-US" sz="1100" b="1" dirty="0">
                <a:solidFill>
                  <a:srgbClr val="FFFFFF"/>
                </a:solidFill>
                <a:latin typeface="Inter ExtraBold" pitchFamily="34" charset="0"/>
                <a:ea typeface="Inter ExtraBold" pitchFamily="34" charset="-122"/>
                <a:cs typeface="Inter ExtraBold" pitchFamily="34" charset="-120"/>
              </a:rPr>
              <a:t>Real-Time Event Log</a:t>
            </a:r>
            <a:endParaRPr lang="en-US" sz="1100" dirty="0"/>
          </a:p>
        </p:txBody>
      </p:sp>
      <p:sp>
        <p:nvSpPr>
          <p:cNvPr id="22" name="Text 16"/>
          <p:cNvSpPr/>
          <p:nvPr/>
        </p:nvSpPr>
        <p:spPr>
          <a:xfrm>
            <a:off x="5309118" y="2793206"/>
            <a:ext cx="3120507"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D1D5DB"/>
                </a:solidFill>
                <a:latin typeface="Inter" pitchFamily="34" charset="0"/>
                <a:ea typeface="Inter" pitchFamily="34" charset="-122"/>
                <a:cs typeface="Inter" pitchFamily="34" charset="-120"/>
              </a:rPr>
              <a:t>Live scrolling feed showing timestamps, names, and recognition confidence scores.</a:t>
            </a:r>
            <a:endParaRPr lang="en-US" sz="850" dirty="0"/>
          </a:p>
        </p:txBody>
      </p:sp>
      <p:sp>
        <p:nvSpPr>
          <p:cNvPr id="23" name="Shape 17"/>
          <p:cNvSpPr/>
          <p:nvPr/>
        </p:nvSpPr>
        <p:spPr>
          <a:xfrm>
            <a:off x="5130524" y="3296841"/>
            <a:ext cx="3441976" cy="714375"/>
          </a:xfrm>
          <a:prstGeom prst="rect">
            <a:avLst/>
          </a:prstGeom>
          <a:solidFill>
            <a:srgbClr val="FFFFFF">
              <a:alpha val="3000"/>
            </a:srgbClr>
          </a:solidFill>
          <a:ln/>
        </p:spPr>
      </p:sp>
      <p:sp>
        <p:nvSpPr>
          <p:cNvPr id="24" name="Shape 18"/>
          <p:cNvSpPr/>
          <p:nvPr/>
        </p:nvSpPr>
        <p:spPr>
          <a:xfrm>
            <a:off x="5130524" y="3296841"/>
            <a:ext cx="28575" cy="714375"/>
          </a:xfrm>
          <a:prstGeom prst="rect">
            <a:avLst/>
          </a:prstGeom>
          <a:solidFill>
            <a:srgbClr val="FF5722"/>
          </a:solidFill>
          <a:ln/>
        </p:spPr>
      </p:sp>
      <p:pic>
        <p:nvPicPr>
          <p:cNvPr id="25" name="Image 3" descr="preencoded.png">    </p:cNvPr>
          <p:cNvPicPr>
            <a:picLocks noChangeAspect="1"/>
          </p:cNvPicPr>
          <p:nvPr/>
        </p:nvPicPr>
        <p:blipFill>
          <a:blip r:embed="rId4"/>
          <a:stretch>
            <a:fillRect/>
          </a:stretch>
        </p:blipFill>
        <p:spPr>
          <a:xfrm>
            <a:off x="5309118" y="3470077"/>
            <a:ext cx="112514" cy="128588"/>
          </a:xfrm>
          <a:prstGeom prst="rect">
            <a:avLst/>
          </a:prstGeom>
        </p:spPr>
      </p:pic>
      <p:sp>
        <p:nvSpPr>
          <p:cNvPr id="26" name="Text 19"/>
          <p:cNvSpPr/>
          <p:nvPr/>
        </p:nvSpPr>
        <p:spPr>
          <a:xfrm>
            <a:off x="5507357" y="3439716"/>
            <a:ext cx="1746647" cy="189309"/>
          </a:xfrm>
          <a:prstGeom prst="rect">
            <a:avLst/>
          </a:prstGeom>
          <a:noFill/>
          <a:ln/>
        </p:spPr>
        <p:txBody>
          <a:bodyPr wrap="square" lIns="0" tIns="0" rIns="0" bIns="0" rtlCol="0" anchor="t">
            <a:spAutoFit/>
          </a:bodyPr>
          <a:lstStyle/>
          <a:p>
            <a:pPr algn="l" indent="0" marL="0">
              <a:buNone/>
            </a:pPr>
            <a:r>
              <a:rPr lang="en-US" sz="1100" b="1" dirty="0">
                <a:solidFill>
                  <a:srgbClr val="FFFFFF"/>
                </a:solidFill>
                <a:latin typeface="Inter ExtraBold" pitchFamily="34" charset="0"/>
                <a:ea typeface="Inter ExtraBold" pitchFamily="34" charset="-122"/>
                <a:cs typeface="Inter ExtraBold" pitchFamily="34" charset="-120"/>
              </a:rPr>
              <a:t>Kiosk Mode Optimized</a:t>
            </a:r>
            <a:endParaRPr lang="en-US" sz="1100" dirty="0"/>
          </a:p>
        </p:txBody>
      </p:sp>
      <p:sp>
        <p:nvSpPr>
          <p:cNvPr id="27" name="Text 20"/>
          <p:cNvSpPr/>
          <p:nvPr/>
        </p:nvSpPr>
        <p:spPr>
          <a:xfrm>
            <a:off x="5309118" y="3686175"/>
            <a:ext cx="3120507"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D1D5DB"/>
                </a:solidFill>
                <a:latin typeface="Inter" pitchFamily="34" charset="0"/>
                <a:ea typeface="Inter" pitchFamily="34" charset="-122"/>
                <a:cs typeface="Inter" pitchFamily="34" charset="-120"/>
              </a:rPr>
              <a:t>Clean, distraction-free interface designed for wall-mounted tablets and classroom displays.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470327"/>
          </a:xfrm>
          <a:prstGeom prst="rect">
            <a:avLst/>
          </a:prstGeom>
        </p:spPr>
      </p:pic>
      <p:sp>
        <p:nvSpPr>
          <p:cNvPr id="4" name="Text 0"/>
          <p:cNvSpPr/>
          <p:nvPr/>
        </p:nvSpPr>
        <p:spPr>
          <a:xfrm>
            <a:off x="571500" y="492919"/>
            <a:ext cx="8572500" cy="483989"/>
          </a:xfrm>
          <a:prstGeom prst="rect">
            <a:avLst/>
          </a:prstGeom>
          <a:noFill/>
          <a:ln/>
        </p:spPr>
        <p:txBody>
          <a:bodyPr wrap="square" lIns="0" tIns="0" rIns="0" bIns="0" rtlCol="0" anchor="t">
            <a:spAutoFit/>
          </a:bodyPr>
          <a:lstStyle/>
          <a:p>
            <a:pPr algn="l" indent="0" marL="0">
              <a:buNone/>
            </a:pPr>
            <a:r>
              <a:rPr lang="en-US" sz="2850" b="1" dirty="0">
                <a:solidFill>
                  <a:srgbClr val="FFFFFF"/>
                </a:solidFill>
                <a:latin typeface="Inter ExtraBold" pitchFamily="34" charset="0"/>
                <a:ea typeface="Inter ExtraBold" pitchFamily="34" charset="-122"/>
                <a:cs typeface="Inter ExtraBold" pitchFamily="34" charset="-120"/>
              </a:rPr>
              <a:t>Admin Intelligence Dashboard</a:t>
            </a:r>
            <a:endParaRPr lang="en-US" sz="2850" dirty="0"/>
          </a:p>
        </p:txBody>
      </p:sp>
      <p:sp>
        <p:nvSpPr>
          <p:cNvPr id="5" name="Shape 1"/>
          <p:cNvSpPr/>
          <p:nvPr/>
        </p:nvSpPr>
        <p:spPr>
          <a:xfrm>
            <a:off x="571500" y="1262658"/>
            <a:ext cx="2524116" cy="1050131"/>
          </a:xfrm>
          <a:prstGeom prst="rect">
            <a:avLst/>
          </a:prstGeom>
          <a:solidFill>
            <a:srgbClr val="FFFFFF">
              <a:alpha val="3000"/>
            </a:srgbClr>
          </a:solidFill>
          <a:ln w="9144">
            <a:solidFill>
              <a:srgbClr val="FFFFFF">
                <a:alpha val="10000"/>
              </a:srgbClr>
            </a:solidFill>
            <a:prstDash val="solid"/>
          </a:ln>
        </p:spPr>
      </p:sp>
      <p:sp>
        <p:nvSpPr>
          <p:cNvPr id="6" name="Text 2"/>
          <p:cNvSpPr/>
          <p:nvPr/>
        </p:nvSpPr>
        <p:spPr>
          <a:xfrm>
            <a:off x="785813" y="1441252"/>
            <a:ext cx="2300288" cy="121444"/>
          </a:xfrm>
          <a:prstGeom prst="rect">
            <a:avLst/>
          </a:prstGeom>
          <a:noFill/>
          <a:ln/>
        </p:spPr>
        <p:txBody>
          <a:bodyPr wrap="square" lIns="0" tIns="0" rIns="0" bIns="0" rtlCol="0" anchor="t">
            <a:spAutoFit/>
          </a:bodyPr>
          <a:lstStyle/>
          <a:p>
            <a:pPr algn="l" indent="0" marL="0">
              <a:buNone/>
            </a:pPr>
            <a:r>
              <a:rPr lang="en-US" sz="750" spc="1" kern="0" dirty="0">
                <a:solidFill>
                  <a:srgbClr val="9CA3AF"/>
                </a:solidFill>
                <a:latin typeface="Inter" pitchFamily="34" charset="0"/>
                <a:ea typeface="Inter" pitchFamily="34" charset="-122"/>
                <a:cs typeface="Inter" pitchFamily="34" charset="-120"/>
              </a:rPr>
              <a:t>TOTAL STUDENTS</a:t>
            </a:r>
            <a:endParaRPr lang="en-US" sz="750" dirty="0"/>
          </a:p>
        </p:txBody>
      </p:sp>
      <p:sp>
        <p:nvSpPr>
          <p:cNvPr id="7" name="Text 3"/>
          <p:cNvSpPr/>
          <p:nvPr/>
        </p:nvSpPr>
        <p:spPr>
          <a:xfrm>
            <a:off x="785813" y="1634133"/>
            <a:ext cx="2300288" cy="312539"/>
          </a:xfrm>
          <a:prstGeom prst="rect">
            <a:avLst/>
          </a:prstGeom>
          <a:noFill/>
          <a:ln/>
        </p:spPr>
        <p:txBody>
          <a:bodyPr wrap="square" lIns="0" tIns="0" rIns="0" bIns="0" rtlCol="0" anchor="t">
            <a:spAutoFit/>
          </a:bodyPr>
          <a:lstStyle/>
          <a:p>
            <a:pPr algn="l" indent="0" marL="0">
              <a:buNone/>
            </a:pPr>
            <a:r>
              <a:rPr lang="en-US" sz="1800" b="1" dirty="0">
                <a:solidFill>
                  <a:srgbClr val="FF5722"/>
                </a:solidFill>
                <a:latin typeface="Inter ExtraBold" pitchFamily="34" charset="0"/>
                <a:ea typeface="Inter ExtraBold" pitchFamily="34" charset="-122"/>
                <a:cs typeface="Inter ExtraBold" pitchFamily="34" charset="-120"/>
              </a:rPr>
              <a:t>1,240</a:t>
            </a:r>
            <a:endParaRPr lang="en-US" sz="1800" dirty="0"/>
          </a:p>
        </p:txBody>
      </p:sp>
      <p:sp>
        <p:nvSpPr>
          <p:cNvPr id="8" name="Shape 4"/>
          <p:cNvSpPr/>
          <p:nvPr/>
        </p:nvSpPr>
        <p:spPr>
          <a:xfrm>
            <a:off x="3300413" y="1262658"/>
            <a:ext cx="2528888" cy="1050131"/>
          </a:xfrm>
          <a:prstGeom prst="rect">
            <a:avLst/>
          </a:prstGeom>
          <a:solidFill>
            <a:srgbClr val="FFFFFF">
              <a:alpha val="3000"/>
            </a:srgbClr>
          </a:solidFill>
          <a:ln w="9144">
            <a:solidFill>
              <a:srgbClr val="FFFFFF">
                <a:alpha val="10000"/>
              </a:srgbClr>
            </a:solidFill>
            <a:prstDash val="solid"/>
          </a:ln>
        </p:spPr>
      </p:sp>
      <p:sp>
        <p:nvSpPr>
          <p:cNvPr id="9" name="Text 5"/>
          <p:cNvSpPr/>
          <p:nvPr/>
        </p:nvSpPr>
        <p:spPr>
          <a:xfrm>
            <a:off x="3519497" y="1441252"/>
            <a:ext cx="2305059" cy="121444"/>
          </a:xfrm>
          <a:prstGeom prst="rect">
            <a:avLst/>
          </a:prstGeom>
          <a:noFill/>
          <a:ln/>
        </p:spPr>
        <p:txBody>
          <a:bodyPr wrap="square" lIns="0" tIns="0" rIns="0" bIns="0" rtlCol="0" anchor="t">
            <a:spAutoFit/>
          </a:bodyPr>
          <a:lstStyle/>
          <a:p>
            <a:pPr algn="l" indent="0" marL="0">
              <a:buNone/>
            </a:pPr>
            <a:r>
              <a:rPr lang="en-US" sz="750" spc="1" kern="0" dirty="0">
                <a:solidFill>
                  <a:srgbClr val="9CA3AF"/>
                </a:solidFill>
                <a:latin typeface="Inter" pitchFamily="34" charset="0"/>
                <a:ea typeface="Inter" pitchFamily="34" charset="-122"/>
                <a:cs typeface="Inter" pitchFamily="34" charset="-120"/>
              </a:rPr>
              <a:t>TODAY'S ATTENDANCE</a:t>
            </a:r>
            <a:endParaRPr lang="en-US" sz="750" dirty="0"/>
          </a:p>
        </p:txBody>
      </p:sp>
      <p:sp>
        <p:nvSpPr>
          <p:cNvPr id="10" name="Text 6"/>
          <p:cNvSpPr/>
          <p:nvPr/>
        </p:nvSpPr>
        <p:spPr>
          <a:xfrm>
            <a:off x="3519497" y="1634133"/>
            <a:ext cx="2305059" cy="312539"/>
          </a:xfrm>
          <a:prstGeom prst="rect">
            <a:avLst/>
          </a:prstGeom>
          <a:noFill/>
          <a:ln/>
        </p:spPr>
        <p:txBody>
          <a:bodyPr wrap="square" lIns="0" tIns="0" rIns="0" bIns="0" rtlCol="0" anchor="t">
            <a:spAutoFit/>
          </a:bodyPr>
          <a:lstStyle/>
          <a:p>
            <a:pPr algn="l" indent="0" marL="0">
              <a:buNone/>
            </a:pPr>
            <a:r>
              <a:rPr lang="en-US" sz="1800" b="1" dirty="0">
                <a:solidFill>
                  <a:srgbClr val="FF5722"/>
                </a:solidFill>
                <a:latin typeface="Inter ExtraBold" pitchFamily="34" charset="0"/>
                <a:ea typeface="Inter ExtraBold" pitchFamily="34" charset="-122"/>
                <a:cs typeface="Inter ExtraBold" pitchFamily="34" charset="-120"/>
              </a:rPr>
              <a:t>94.2%</a:t>
            </a:r>
            <a:endParaRPr lang="en-US" sz="1800" dirty="0"/>
          </a:p>
        </p:txBody>
      </p:sp>
      <p:sp>
        <p:nvSpPr>
          <p:cNvPr id="11" name="Shape 7"/>
          <p:cNvSpPr/>
          <p:nvPr/>
        </p:nvSpPr>
        <p:spPr>
          <a:xfrm>
            <a:off x="6038869" y="1262658"/>
            <a:ext cx="2533659" cy="1050131"/>
          </a:xfrm>
          <a:prstGeom prst="rect">
            <a:avLst/>
          </a:prstGeom>
          <a:solidFill>
            <a:srgbClr val="FFFFFF">
              <a:alpha val="3000"/>
            </a:srgbClr>
          </a:solidFill>
          <a:ln w="9144">
            <a:solidFill>
              <a:srgbClr val="FFFFFF">
                <a:alpha val="10000"/>
              </a:srgbClr>
            </a:solidFill>
            <a:prstDash val="solid"/>
          </a:ln>
        </p:spPr>
      </p:sp>
      <p:sp>
        <p:nvSpPr>
          <p:cNvPr id="12" name="Text 8"/>
          <p:cNvSpPr/>
          <p:nvPr/>
        </p:nvSpPr>
        <p:spPr>
          <a:xfrm>
            <a:off x="6262669" y="1441252"/>
            <a:ext cx="2309803" cy="121444"/>
          </a:xfrm>
          <a:prstGeom prst="rect">
            <a:avLst/>
          </a:prstGeom>
          <a:noFill/>
          <a:ln/>
        </p:spPr>
        <p:txBody>
          <a:bodyPr wrap="square" lIns="0" tIns="0" rIns="0" bIns="0" rtlCol="0" anchor="t">
            <a:spAutoFit/>
          </a:bodyPr>
          <a:lstStyle/>
          <a:p>
            <a:pPr algn="l" indent="0" marL="0">
              <a:buNone/>
            </a:pPr>
            <a:r>
              <a:rPr lang="en-US" sz="750" spc="1" kern="0" dirty="0">
                <a:solidFill>
                  <a:srgbClr val="9CA3AF"/>
                </a:solidFill>
                <a:latin typeface="Inter" pitchFamily="34" charset="0"/>
                <a:ea typeface="Inter" pitchFamily="34" charset="-122"/>
                <a:cs typeface="Inter" pitchFamily="34" charset="-120"/>
              </a:rPr>
              <a:t>AVG. MONTHLY RATE</a:t>
            </a:r>
            <a:endParaRPr lang="en-US" sz="750" dirty="0"/>
          </a:p>
        </p:txBody>
      </p:sp>
      <p:sp>
        <p:nvSpPr>
          <p:cNvPr id="13" name="Text 9"/>
          <p:cNvSpPr/>
          <p:nvPr/>
        </p:nvSpPr>
        <p:spPr>
          <a:xfrm>
            <a:off x="6262669" y="1634133"/>
            <a:ext cx="2309803" cy="312539"/>
          </a:xfrm>
          <a:prstGeom prst="rect">
            <a:avLst/>
          </a:prstGeom>
          <a:noFill/>
          <a:ln/>
        </p:spPr>
        <p:txBody>
          <a:bodyPr wrap="square" lIns="0" tIns="0" rIns="0" bIns="0" rtlCol="0" anchor="t">
            <a:spAutoFit/>
          </a:bodyPr>
          <a:lstStyle/>
          <a:p>
            <a:pPr algn="l" indent="0" marL="0">
              <a:buNone/>
            </a:pPr>
            <a:r>
              <a:rPr lang="en-US" sz="1800" b="1" dirty="0">
                <a:solidFill>
                  <a:srgbClr val="FF5722"/>
                </a:solidFill>
                <a:latin typeface="Inter ExtraBold" pitchFamily="34" charset="0"/>
                <a:ea typeface="Inter ExtraBold" pitchFamily="34" charset="-122"/>
                <a:cs typeface="Inter ExtraBold" pitchFamily="34" charset="-120"/>
              </a:rPr>
              <a:t>88.5%</a:t>
            </a:r>
            <a:endParaRPr lang="en-US" sz="1800" dirty="0"/>
          </a:p>
        </p:txBody>
      </p:sp>
      <p:sp>
        <p:nvSpPr>
          <p:cNvPr id="14" name="Shape 10"/>
          <p:cNvSpPr/>
          <p:nvPr/>
        </p:nvSpPr>
        <p:spPr>
          <a:xfrm>
            <a:off x="571500" y="2512814"/>
            <a:ext cx="8001000" cy="2943225"/>
          </a:xfrm>
          <a:prstGeom prst="rect">
            <a:avLst/>
          </a:prstGeom>
          <a:solidFill>
            <a:srgbClr val="FFFFFF">
              <a:alpha val="3000"/>
            </a:srgbClr>
          </a:solidFill>
          <a:ln w="9144">
            <a:solidFill>
              <a:srgbClr val="FFFFFF">
                <a:alpha val="10000"/>
              </a:srgbClr>
            </a:solidFill>
            <a:prstDash val="solid"/>
          </a:ln>
        </p:spPr>
      </p:sp>
      <p:pic>
        <p:nvPicPr>
          <p:cNvPr id="15" name="Image 1" descr="preencoded.png">    </p:cNvPr>
          <p:cNvPicPr>
            <a:picLocks noChangeAspect="1"/>
          </p:cNvPicPr>
          <p:nvPr/>
        </p:nvPicPr>
        <p:blipFill>
          <a:blip r:embed="rId2"/>
          <a:stretch>
            <a:fillRect/>
          </a:stretch>
        </p:blipFill>
        <p:spPr>
          <a:xfrm>
            <a:off x="785813" y="2742307"/>
            <a:ext cx="142875" cy="142875"/>
          </a:xfrm>
          <a:prstGeom prst="rect">
            <a:avLst/>
          </a:prstGeom>
        </p:spPr>
      </p:pic>
      <p:sp>
        <p:nvSpPr>
          <p:cNvPr id="16" name="Text 11"/>
          <p:cNvSpPr/>
          <p:nvPr/>
        </p:nvSpPr>
        <p:spPr>
          <a:xfrm>
            <a:off x="1000125" y="2727127"/>
            <a:ext cx="2612827" cy="173236"/>
          </a:xfrm>
          <a:prstGeom prst="rect">
            <a:avLst/>
          </a:prstGeom>
          <a:noFill/>
          <a:ln/>
        </p:spPr>
        <p:txBody>
          <a:bodyPr wrap="square" lIns="0" tIns="0" rIns="0" bIns="0" rtlCol="0" anchor="t">
            <a:spAutoFit/>
          </a:bodyPr>
          <a:lstStyle/>
          <a:p>
            <a:pPr algn="l" indent="0" marL="0">
              <a:buNone/>
            </a:pPr>
            <a:r>
              <a:rPr lang="en-US" sz="1000" dirty="0">
                <a:solidFill>
                  <a:srgbClr val="FFFFFF"/>
                </a:solidFill>
                <a:latin typeface="Inter Medium" pitchFamily="34" charset="0"/>
                <a:ea typeface="Inter Medium" pitchFamily="34" charset="-122"/>
                <a:cs typeface="Inter Medium" pitchFamily="34" charset="-120"/>
              </a:rPr>
              <a:t>Daily Attendance Trend (Last 7 Days)</a:t>
            </a:r>
            <a:endParaRPr lang="en-US" sz="1000" dirty="0"/>
          </a:p>
        </p:txBody>
      </p:sp>
      <p:pic>
        <p:nvPicPr>
          <p:cNvPr id="17" name="Image 2" descr="preencoded.png">    </p:cNvPr>
          <p:cNvPicPr>
            <a:picLocks noChangeAspect="1"/>
          </p:cNvPicPr>
          <p:nvPr/>
        </p:nvPicPr>
        <p:blipFill>
          <a:blip r:embed="rId3"/>
          <a:stretch>
            <a:fillRect/>
          </a:stretch>
        </p:blipFill>
        <p:spPr>
          <a:xfrm>
            <a:off x="785813" y="3043238"/>
            <a:ext cx="7558088" cy="21431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Student &amp; Database Management</a:t>
            </a:r>
            <a:endParaRPr lang="en-US" sz="3300" dirty="0"/>
          </a:p>
        </p:txBody>
      </p:sp>
      <p:sp>
        <p:nvSpPr>
          <p:cNvPr id="5" name="Shape 1"/>
          <p:cNvSpPr/>
          <p:nvPr/>
        </p:nvSpPr>
        <p:spPr>
          <a:xfrm>
            <a:off x="571500" y="1510903"/>
            <a:ext cx="3857625" cy="3300413"/>
          </a:xfrm>
          <a:prstGeom prst="rect">
            <a:avLst/>
          </a:prstGeom>
          <a:solidFill>
            <a:srgbClr val="FFFFFF">
              <a:alpha val="3000"/>
            </a:srgbClr>
          </a:solidFill>
          <a:ln w="9144">
            <a:solidFill>
              <a:srgbClr val="FFFFFF">
                <a:alpha val="10000"/>
              </a:srgbClr>
            </a:solidFill>
            <a:prstDash val="solid"/>
          </a:ln>
        </p:spPr>
      </p:sp>
      <p:pic>
        <p:nvPicPr>
          <p:cNvPr id="6" name="Image 1" descr="preencoded.png">    </p:cNvPr>
          <p:cNvPicPr>
            <a:picLocks noChangeAspect="1"/>
          </p:cNvPicPr>
          <p:nvPr/>
        </p:nvPicPr>
        <p:blipFill>
          <a:blip r:embed="rId2"/>
          <a:stretch>
            <a:fillRect/>
          </a:stretch>
        </p:blipFill>
        <p:spPr>
          <a:xfrm>
            <a:off x="857250" y="1818084"/>
            <a:ext cx="250031" cy="200025"/>
          </a:xfrm>
          <a:prstGeom prst="rect">
            <a:avLst/>
          </a:prstGeom>
        </p:spPr>
      </p:pic>
      <p:sp>
        <p:nvSpPr>
          <p:cNvPr id="7" name="Text 2"/>
          <p:cNvSpPr/>
          <p:nvPr/>
        </p:nvSpPr>
        <p:spPr>
          <a:xfrm>
            <a:off x="1214438" y="1796653"/>
            <a:ext cx="2218134" cy="242888"/>
          </a:xfrm>
          <a:prstGeom prst="rect">
            <a:avLst/>
          </a:prstGeom>
          <a:noFill/>
          <a:ln/>
        </p:spPr>
        <p:txBody>
          <a:bodyPr wrap="square" lIns="0" tIns="0" rIns="0" bIns="0" rtlCol="0" anchor="t">
            <a:spAutoFit/>
          </a:bodyPr>
          <a:lstStyle/>
          <a:p>
            <a:pPr algn="l" indent="0" marL="0">
              <a:buNone/>
            </a:pPr>
            <a:r>
              <a:rPr lang="en-US" sz="1400" b="1" dirty="0">
                <a:solidFill>
                  <a:srgbClr val="FF5722"/>
                </a:solidFill>
                <a:latin typeface="Inter ExtraBold" pitchFamily="34" charset="0"/>
                <a:ea typeface="Inter ExtraBold" pitchFamily="34" charset="-122"/>
                <a:cs typeface="Inter ExtraBold" pitchFamily="34" charset="-120"/>
              </a:rPr>
              <a:t>Registration Workflow</a:t>
            </a:r>
            <a:endParaRPr lang="en-US" sz="1400" dirty="0"/>
          </a:p>
        </p:txBody>
      </p:sp>
      <p:pic>
        <p:nvPicPr>
          <p:cNvPr id="8" name="Image 2" descr="preencoded.png">    </p:cNvPr>
          <p:cNvPicPr>
            <a:picLocks noChangeAspect="1"/>
          </p:cNvPicPr>
          <p:nvPr/>
        </p:nvPicPr>
        <p:blipFill>
          <a:blip r:embed="rId3"/>
          <a:stretch>
            <a:fillRect/>
          </a:stretch>
        </p:blipFill>
        <p:spPr>
          <a:xfrm>
            <a:off x="1143000" y="2253853"/>
            <a:ext cx="114300" cy="150019"/>
          </a:xfrm>
          <a:prstGeom prst="rect">
            <a:avLst/>
          </a:prstGeom>
        </p:spPr>
      </p:pic>
      <p:sp>
        <p:nvSpPr>
          <p:cNvPr id="9" name="Text 3"/>
          <p:cNvSpPr/>
          <p:nvPr/>
        </p:nvSpPr>
        <p:spPr>
          <a:xfrm>
            <a:off x="1364456" y="2253853"/>
            <a:ext cx="2771775" cy="578644"/>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FFFFFF"/>
                </a:solidFill>
                <a:latin typeface="Inter Medium" pitchFamily="34" charset="0"/>
                <a:ea typeface="Inter Medium" pitchFamily="34" charset="-122"/>
                <a:cs typeface="Inter Medium" pitchFamily="34" charset="-120"/>
              </a:rPr>
              <a:t>Multi-Photo Capture</a:t>
            </a:r>
            <a:r>
              <a:rPr lang="en-US" sz="950" dirty="0">
                <a:solidFill>
                  <a:srgbClr val="D1D5DB"/>
                </a:solidFill>
                <a:latin typeface="Inter" pitchFamily="34" charset="0"/>
                <a:ea typeface="Inter" pitchFamily="34" charset="-122"/>
                <a:cs typeface="Inter" pitchFamily="34" charset="-120"/>
              </a:rPr>
              <a:t>: System captures 3-10 </a:t>
            </a:r>
            <a:r>
              <a:rPr lang="en-US" sz="950" dirty="0">
                <a:solidFill>
                  <a:srgbClr val="D1D5DB"/>
                </a:solidFill>
                <a:latin typeface="Inter" pitchFamily="34" charset="0"/>
                <a:ea typeface="Inter" pitchFamily="34" charset="-122"/>
                <a:cs typeface="Inter" pitchFamily="34" charset="-120"/>
              </a:rPr>
              <a:t>face photos to build a robust recognition </a:t>
            </a:r>
            <a:r>
              <a:rPr lang="en-US" sz="950" dirty="0">
                <a:solidFill>
                  <a:srgbClr val="D1D5DB"/>
                </a:solidFill>
                <a:latin typeface="Inter" pitchFamily="34" charset="0"/>
                <a:ea typeface="Inter" pitchFamily="34" charset="-122"/>
                <a:cs typeface="Inter" pitchFamily="34" charset="-120"/>
              </a:rPr>
              <a:t>profile.</a:t>
            </a:r>
            <a:endParaRPr lang="en-US" sz="900" dirty="0"/>
          </a:p>
        </p:txBody>
      </p:sp>
      <p:pic>
        <p:nvPicPr>
          <p:cNvPr id="10" name="Image 3" descr="preencoded.png">    </p:cNvPr>
          <p:cNvPicPr>
            <a:picLocks noChangeAspect="1"/>
          </p:cNvPicPr>
          <p:nvPr/>
        </p:nvPicPr>
        <p:blipFill>
          <a:blip r:embed="rId4"/>
          <a:stretch>
            <a:fillRect/>
          </a:stretch>
        </p:blipFill>
        <p:spPr>
          <a:xfrm>
            <a:off x="1143000" y="3011091"/>
            <a:ext cx="128588" cy="150019"/>
          </a:xfrm>
          <a:prstGeom prst="rect">
            <a:avLst/>
          </a:prstGeom>
        </p:spPr>
      </p:pic>
      <p:sp>
        <p:nvSpPr>
          <p:cNvPr id="11" name="Text 4"/>
          <p:cNvSpPr/>
          <p:nvPr/>
        </p:nvSpPr>
        <p:spPr>
          <a:xfrm>
            <a:off x="1378744" y="3011091"/>
            <a:ext cx="2757488" cy="578644"/>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FFFFFF"/>
                </a:solidFill>
                <a:latin typeface="Inter Medium" pitchFamily="34" charset="0"/>
                <a:ea typeface="Inter Medium" pitchFamily="34" charset="-122"/>
                <a:cs typeface="Inter Medium" pitchFamily="34" charset="-120"/>
              </a:rPr>
              <a:t>Metadata Storage</a:t>
            </a:r>
            <a:r>
              <a:rPr lang="en-US" sz="950" dirty="0">
                <a:solidFill>
                  <a:srgbClr val="D1D5DB"/>
                </a:solidFill>
                <a:latin typeface="Inter" pitchFamily="34" charset="0"/>
                <a:ea typeface="Inter" pitchFamily="34" charset="-122"/>
                <a:cs typeface="Inter" pitchFamily="34" charset="-120"/>
              </a:rPr>
              <a:t>: Links face encodings </a:t>
            </a:r>
            <a:r>
              <a:rPr lang="en-US" sz="950" dirty="0">
                <a:solidFill>
                  <a:srgbClr val="D1D5DB"/>
                </a:solidFill>
                <a:latin typeface="Inter" pitchFamily="34" charset="0"/>
                <a:ea typeface="Inter" pitchFamily="34" charset="-122"/>
                <a:cs typeface="Inter" pitchFamily="34" charset="-120"/>
              </a:rPr>
              <a:t>with Name, Roll Number, Branch, and </a:t>
            </a:r>
            <a:r>
              <a:rPr lang="en-US" sz="950" dirty="0">
                <a:solidFill>
                  <a:srgbClr val="D1D5DB"/>
                </a:solidFill>
                <a:latin typeface="Inter" pitchFamily="34" charset="0"/>
                <a:ea typeface="Inter" pitchFamily="34" charset="-122"/>
                <a:cs typeface="Inter" pitchFamily="34" charset="-120"/>
              </a:rPr>
              <a:t>Section.</a:t>
            </a:r>
            <a:endParaRPr lang="en-US" sz="900" dirty="0"/>
          </a:p>
        </p:txBody>
      </p:sp>
      <p:pic>
        <p:nvPicPr>
          <p:cNvPr id="12" name="Image 4" descr="preencoded.png">    </p:cNvPr>
          <p:cNvPicPr>
            <a:picLocks noChangeAspect="1"/>
          </p:cNvPicPr>
          <p:nvPr/>
        </p:nvPicPr>
        <p:blipFill>
          <a:blip r:embed="rId5"/>
          <a:stretch>
            <a:fillRect/>
          </a:stretch>
        </p:blipFill>
        <p:spPr>
          <a:xfrm>
            <a:off x="1143000" y="3768328"/>
            <a:ext cx="114300" cy="150019"/>
          </a:xfrm>
          <a:prstGeom prst="rect">
            <a:avLst/>
          </a:prstGeom>
        </p:spPr>
      </p:pic>
      <p:sp>
        <p:nvSpPr>
          <p:cNvPr id="13" name="Text 5"/>
          <p:cNvSpPr/>
          <p:nvPr/>
        </p:nvSpPr>
        <p:spPr>
          <a:xfrm>
            <a:off x="1364456" y="3768328"/>
            <a:ext cx="2771775" cy="578644"/>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FFFFFF"/>
                </a:solidFill>
                <a:latin typeface="Inter Medium" pitchFamily="34" charset="0"/>
                <a:ea typeface="Inter Medium" pitchFamily="34" charset="-122"/>
                <a:cs typeface="Inter Medium" pitchFamily="34" charset="-120"/>
              </a:rPr>
              <a:t>Profile Management</a:t>
            </a:r>
            <a:r>
              <a:rPr lang="en-US" sz="950" dirty="0">
                <a:solidFill>
                  <a:srgbClr val="D1D5DB"/>
                </a:solidFill>
                <a:latin typeface="Inter" pitchFamily="34" charset="0"/>
                <a:ea typeface="Inter" pitchFamily="34" charset="-122"/>
                <a:cs typeface="Inter" pitchFamily="34" charset="-120"/>
              </a:rPr>
              <a:t>: View full attendance </a:t>
            </a:r>
            <a:r>
              <a:rPr lang="en-US" sz="950" dirty="0">
                <a:solidFill>
                  <a:srgbClr val="D1D5DB"/>
                </a:solidFill>
                <a:latin typeface="Inter" pitchFamily="34" charset="0"/>
                <a:ea typeface="Inter" pitchFamily="34" charset="-122"/>
                <a:cs typeface="Inter" pitchFamily="34" charset="-120"/>
              </a:rPr>
              <a:t>history and manage student metadata via </a:t>
            </a:r>
            <a:r>
              <a:rPr lang="en-US" sz="950" dirty="0">
                <a:solidFill>
                  <a:srgbClr val="D1D5DB"/>
                </a:solidFill>
                <a:latin typeface="Inter" pitchFamily="34" charset="0"/>
                <a:ea typeface="Inter" pitchFamily="34" charset="-122"/>
                <a:cs typeface="Inter" pitchFamily="34" charset="-120"/>
              </a:rPr>
              <a:t>Admin UI.</a:t>
            </a:r>
            <a:endParaRPr lang="en-US" sz="900" dirty="0"/>
          </a:p>
        </p:txBody>
      </p:sp>
      <p:sp>
        <p:nvSpPr>
          <p:cNvPr id="14" name="Shape 6"/>
          <p:cNvSpPr/>
          <p:nvPr/>
        </p:nvSpPr>
        <p:spPr>
          <a:xfrm>
            <a:off x="4707731" y="1510903"/>
            <a:ext cx="3864769" cy="3300413"/>
          </a:xfrm>
          <a:prstGeom prst="rect">
            <a:avLst/>
          </a:prstGeom>
          <a:solidFill>
            <a:srgbClr val="FFFFFF">
              <a:alpha val="3000"/>
            </a:srgbClr>
          </a:solidFill>
          <a:ln w="9144">
            <a:solidFill>
              <a:srgbClr val="FFFFFF">
                <a:alpha val="10000"/>
              </a:srgbClr>
            </a:solidFill>
            <a:prstDash val="solid"/>
          </a:ln>
        </p:spPr>
      </p:sp>
      <p:pic>
        <p:nvPicPr>
          <p:cNvPr id="15" name="Image 5" descr="preencoded.png">    </p:cNvPr>
          <p:cNvPicPr>
            <a:picLocks noChangeAspect="1"/>
          </p:cNvPicPr>
          <p:nvPr/>
        </p:nvPicPr>
        <p:blipFill>
          <a:blip r:embed="rId6"/>
          <a:stretch>
            <a:fillRect/>
          </a:stretch>
        </p:blipFill>
        <p:spPr>
          <a:xfrm>
            <a:off x="5000625" y="1818084"/>
            <a:ext cx="175022" cy="200025"/>
          </a:xfrm>
          <a:prstGeom prst="rect">
            <a:avLst/>
          </a:prstGeom>
        </p:spPr>
      </p:pic>
      <p:sp>
        <p:nvSpPr>
          <p:cNvPr id="16" name="Text 7"/>
          <p:cNvSpPr/>
          <p:nvPr/>
        </p:nvSpPr>
        <p:spPr>
          <a:xfrm>
            <a:off x="5282803" y="1796653"/>
            <a:ext cx="2280642" cy="242888"/>
          </a:xfrm>
          <a:prstGeom prst="rect">
            <a:avLst/>
          </a:prstGeom>
          <a:noFill/>
          <a:ln/>
        </p:spPr>
        <p:txBody>
          <a:bodyPr wrap="square" lIns="0" tIns="0" rIns="0" bIns="0" rtlCol="0" anchor="t">
            <a:spAutoFit/>
          </a:bodyPr>
          <a:lstStyle/>
          <a:p>
            <a:pPr algn="l" indent="0" marL="0">
              <a:buNone/>
            </a:pPr>
            <a:r>
              <a:rPr lang="en-US" sz="1400" b="1" dirty="0">
                <a:solidFill>
                  <a:srgbClr val="FF5722"/>
                </a:solidFill>
                <a:latin typeface="Inter ExtraBold" pitchFamily="34" charset="0"/>
                <a:ea typeface="Inter ExtraBold" pitchFamily="34" charset="-122"/>
                <a:cs typeface="Inter ExtraBold" pitchFamily="34" charset="-120"/>
              </a:rPr>
              <a:t>Relational Architecture</a:t>
            </a:r>
            <a:endParaRPr lang="en-US" sz="1400" dirty="0"/>
          </a:p>
        </p:txBody>
      </p:sp>
      <p:sp>
        <p:nvSpPr>
          <p:cNvPr id="17" name="Shape 8"/>
          <p:cNvSpPr/>
          <p:nvPr/>
        </p:nvSpPr>
        <p:spPr>
          <a:xfrm>
            <a:off x="5000625" y="2253853"/>
            <a:ext cx="3286125" cy="1585913"/>
          </a:xfrm>
          <a:prstGeom prst="rect">
            <a:avLst/>
          </a:prstGeom>
          <a:solidFill>
            <a:srgbClr val="000000">
              <a:alpha val="30000"/>
            </a:srgbClr>
          </a:solidFill>
          <a:ln w="9144">
            <a:solidFill>
              <a:srgbClr val="FF5722">
                <a:alpha val="20000"/>
              </a:srgbClr>
            </a:solidFill>
            <a:prstDash val="solid"/>
          </a:ln>
        </p:spPr>
      </p:sp>
      <p:sp>
        <p:nvSpPr>
          <p:cNvPr id="18" name="Text 9"/>
          <p:cNvSpPr/>
          <p:nvPr/>
        </p:nvSpPr>
        <p:spPr>
          <a:xfrm>
            <a:off x="5143500" y="2396728"/>
            <a:ext cx="3000375" cy="114300"/>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Courier New" pitchFamily="34" charset="0"/>
                <a:ea typeface="Courier New" pitchFamily="34" charset="-122"/>
                <a:cs typeface="Courier New" pitchFamily="34" charset="-120"/>
              </a:rPr>
              <a:t>TABLE: student</a:t>
            </a:r>
            <a:endParaRPr lang="en-US" sz="700" dirty="0"/>
          </a:p>
        </p:txBody>
      </p:sp>
      <p:sp>
        <p:nvSpPr>
          <p:cNvPr id="19" name="Text 10"/>
          <p:cNvSpPr/>
          <p:nvPr/>
        </p:nvSpPr>
        <p:spPr>
          <a:xfrm>
            <a:off x="5143500" y="2582466"/>
            <a:ext cx="3000375" cy="114300"/>
          </a:xfrm>
          <a:prstGeom prst="rect">
            <a:avLst/>
          </a:prstGeom>
          <a:noFill/>
          <a:ln/>
        </p:spPr>
        <p:txBody>
          <a:bodyPr wrap="square" lIns="0" tIns="0" rIns="0" bIns="0" rtlCol="0" anchor="t">
            <a:spAutoFit/>
          </a:bodyPr>
          <a:lstStyle/>
          <a:p>
            <a:pPr algn="l" indent="0" marL="0">
              <a:buNone/>
            </a:pPr>
            <a:r>
              <a:rPr lang="en-US" sz="750" dirty="0">
                <a:solidFill>
                  <a:srgbClr val="9CA3AF"/>
                </a:solidFill>
                <a:latin typeface="Courier New" pitchFamily="34" charset="0"/>
                <a:ea typeface="Courier New" pitchFamily="34" charset="-122"/>
                <a:cs typeface="Courier New" pitchFamily="34" charset="-120"/>
              </a:rPr>
              <a:t>id (PK), name, roll_number, branch, section</a:t>
            </a:r>
            <a:endParaRPr lang="en-US" sz="750" dirty="0"/>
          </a:p>
        </p:txBody>
      </p:sp>
      <p:sp>
        <p:nvSpPr>
          <p:cNvPr id="20" name="Text 11"/>
          <p:cNvSpPr/>
          <p:nvPr/>
        </p:nvSpPr>
        <p:spPr>
          <a:xfrm>
            <a:off x="5143500" y="2803922"/>
            <a:ext cx="3000375" cy="114300"/>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Courier New" pitchFamily="34" charset="0"/>
                <a:ea typeface="Courier New" pitchFamily="34" charset="-122"/>
                <a:cs typeface="Courier New" pitchFamily="34" charset="-120"/>
              </a:rPr>
              <a:t>TABLE: student_face</a:t>
            </a:r>
            <a:endParaRPr lang="en-US" sz="700" dirty="0"/>
          </a:p>
        </p:txBody>
      </p:sp>
      <p:sp>
        <p:nvSpPr>
          <p:cNvPr id="21" name="Text 12"/>
          <p:cNvSpPr/>
          <p:nvPr/>
        </p:nvSpPr>
        <p:spPr>
          <a:xfrm>
            <a:off x="5143500" y="2989659"/>
            <a:ext cx="3000375" cy="114300"/>
          </a:xfrm>
          <a:prstGeom prst="rect">
            <a:avLst/>
          </a:prstGeom>
          <a:noFill/>
          <a:ln/>
        </p:spPr>
        <p:txBody>
          <a:bodyPr wrap="square" lIns="0" tIns="0" rIns="0" bIns="0" rtlCol="0" anchor="t">
            <a:spAutoFit/>
          </a:bodyPr>
          <a:lstStyle/>
          <a:p>
            <a:pPr algn="l" indent="0" marL="0">
              <a:buNone/>
            </a:pPr>
            <a:r>
              <a:rPr lang="en-US" sz="750" dirty="0">
                <a:solidFill>
                  <a:srgbClr val="9CA3AF"/>
                </a:solidFill>
                <a:latin typeface="Courier New" pitchFamily="34" charset="0"/>
                <a:ea typeface="Courier New" pitchFamily="34" charset="-122"/>
                <a:cs typeface="Courier New" pitchFamily="34" charset="-120"/>
              </a:rPr>
              <a:t>id (PK), student_id (FK), face_encoding (BLOB)</a:t>
            </a:r>
            <a:endParaRPr lang="en-US" sz="750" dirty="0"/>
          </a:p>
        </p:txBody>
      </p:sp>
      <p:sp>
        <p:nvSpPr>
          <p:cNvPr id="22" name="Text 13"/>
          <p:cNvSpPr/>
          <p:nvPr/>
        </p:nvSpPr>
        <p:spPr>
          <a:xfrm>
            <a:off x="5143500" y="3211116"/>
            <a:ext cx="3000375" cy="114300"/>
          </a:xfrm>
          <a:prstGeom prst="rect">
            <a:avLst/>
          </a:prstGeom>
          <a:noFill/>
          <a:ln/>
        </p:spPr>
        <p:txBody>
          <a:bodyPr wrap="square" lIns="0" tIns="0" rIns="0" bIns="0" rtlCol="0" anchor="t">
            <a:spAutoFit/>
          </a:bodyPr>
          <a:lstStyle/>
          <a:p>
            <a:pPr algn="l" indent="0" marL="0">
              <a:buNone/>
            </a:pPr>
            <a:r>
              <a:rPr lang="en-US" sz="700" b="1" dirty="0">
                <a:solidFill>
                  <a:srgbClr val="FF5722"/>
                </a:solidFill>
                <a:latin typeface="Courier New" pitchFamily="34" charset="0"/>
                <a:ea typeface="Courier New" pitchFamily="34" charset="-122"/>
                <a:cs typeface="Courier New" pitchFamily="34" charset="-120"/>
              </a:rPr>
              <a:t>TABLE: attendance</a:t>
            </a:r>
            <a:endParaRPr lang="en-US" sz="700" dirty="0"/>
          </a:p>
        </p:txBody>
      </p:sp>
      <p:sp>
        <p:nvSpPr>
          <p:cNvPr id="23" name="Text 14"/>
          <p:cNvSpPr/>
          <p:nvPr/>
        </p:nvSpPr>
        <p:spPr>
          <a:xfrm>
            <a:off x="5143500" y="3396853"/>
            <a:ext cx="3000375" cy="114300"/>
          </a:xfrm>
          <a:prstGeom prst="rect">
            <a:avLst/>
          </a:prstGeom>
          <a:noFill/>
          <a:ln/>
        </p:spPr>
        <p:txBody>
          <a:bodyPr wrap="square" lIns="0" tIns="0" rIns="0" bIns="0" rtlCol="0" anchor="t">
            <a:spAutoFit/>
          </a:bodyPr>
          <a:lstStyle/>
          <a:p>
            <a:pPr algn="l" indent="0" marL="0">
              <a:buNone/>
            </a:pPr>
            <a:r>
              <a:rPr lang="en-US" sz="750" dirty="0">
                <a:solidFill>
                  <a:srgbClr val="9CA3AF"/>
                </a:solidFill>
                <a:latin typeface="Courier New" pitchFamily="34" charset="0"/>
                <a:ea typeface="Courier New" pitchFamily="34" charset="-122"/>
                <a:cs typeface="Courier New" pitchFamily="34" charset="-120"/>
              </a:rPr>
              <a:t>id (PK), student_id (FK), date, time, proof_path</a:t>
            </a:r>
            <a:endParaRPr lang="en-US" sz="750" dirty="0"/>
          </a:p>
        </p:txBody>
      </p:sp>
      <p:pic>
        <p:nvPicPr>
          <p:cNvPr id="24" name="Image 6" descr="preencoded.png">    </p:cNvPr>
          <p:cNvPicPr>
            <a:picLocks noChangeAspect="1"/>
          </p:cNvPicPr>
          <p:nvPr/>
        </p:nvPicPr>
        <p:blipFill>
          <a:blip r:embed="rId7"/>
          <a:stretch>
            <a:fillRect/>
          </a:stretch>
        </p:blipFill>
        <p:spPr>
          <a:xfrm>
            <a:off x="5286375" y="3968353"/>
            <a:ext cx="114300" cy="150019"/>
          </a:xfrm>
          <a:prstGeom prst="rect">
            <a:avLst/>
          </a:prstGeom>
        </p:spPr>
      </p:pic>
      <p:sp>
        <p:nvSpPr>
          <p:cNvPr id="25" name="Text 15"/>
          <p:cNvSpPr/>
          <p:nvPr/>
        </p:nvSpPr>
        <p:spPr>
          <a:xfrm>
            <a:off x="5507831" y="3968353"/>
            <a:ext cx="2778919" cy="385763"/>
          </a:xfrm>
          <a:prstGeom prst="rect">
            <a:avLst/>
          </a:prstGeom>
          <a:noFill/>
          <a:ln/>
        </p:spPr>
        <p:txBody>
          <a:bodyPr wrap="square" lIns="0" tIns="0" rIns="0" bIns="0" rtlCol="0" anchor="t">
            <a:spAutoFit/>
          </a:bodyPr>
          <a:lstStyle/>
          <a:p>
            <a:pPr algn="l" indent="0" marL="0">
              <a:lnSpc>
                <a:spcPct val="120000"/>
              </a:lnSpc>
              <a:buNone/>
            </a:pPr>
            <a:r>
              <a:rPr lang="en-US" sz="900" dirty="0">
                <a:solidFill>
                  <a:srgbClr val="FFFFFF"/>
                </a:solidFill>
                <a:latin typeface="Inter Medium" pitchFamily="34" charset="0"/>
                <a:ea typeface="Inter Medium" pitchFamily="34" charset="-122"/>
                <a:cs typeface="Inter Medium" pitchFamily="34" charset="-120"/>
              </a:rPr>
              <a:t>Integrity</a:t>
            </a:r>
            <a:r>
              <a:rPr lang="en-US" sz="950" dirty="0">
                <a:solidFill>
                  <a:srgbClr val="D1D5DB"/>
                </a:solidFill>
                <a:latin typeface="Inter" pitchFamily="34" charset="0"/>
                <a:ea typeface="Inter" pitchFamily="34" charset="-122"/>
                <a:cs typeface="Inter" pitchFamily="34" charset="-120"/>
              </a:rPr>
              <a:t>: UNIQUE(student_id, date) </a:t>
            </a:r>
            <a:r>
              <a:rPr lang="en-US" sz="950" dirty="0">
                <a:solidFill>
                  <a:srgbClr val="D1D5DB"/>
                </a:solidFill>
                <a:latin typeface="Inter" pitchFamily="34" charset="0"/>
                <a:ea typeface="Inter" pitchFamily="34" charset="-122"/>
                <a:cs typeface="Inter" pitchFamily="34" charset="-120"/>
              </a:rPr>
              <a:t>constraint prevents duplicate marking.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571500" y="600075"/>
            <a:ext cx="8572500" cy="553641"/>
          </a:xfrm>
          <a:prstGeom prst="rect">
            <a:avLst/>
          </a:prstGeom>
          <a:noFill/>
          <a:ln/>
        </p:spPr>
        <p:txBody>
          <a:bodyPr wrap="square" lIns="0" tIns="0" rIns="0" bIns="0" rtlCol="0" anchor="t">
            <a:spAutoFit/>
          </a:bodyPr>
          <a:lstStyle/>
          <a:p>
            <a:pPr algn="l" indent="0" marL="0">
              <a:buNone/>
            </a:pPr>
            <a:r>
              <a:rPr lang="en-US" sz="3300" b="1" dirty="0">
                <a:solidFill>
                  <a:srgbClr val="FFFFFF"/>
                </a:solidFill>
                <a:latin typeface="Inter ExtraBold" pitchFamily="34" charset="0"/>
                <a:ea typeface="Inter ExtraBold" pitchFamily="34" charset="-122"/>
                <a:cs typeface="Inter ExtraBold" pitchFamily="34" charset="-120"/>
              </a:rPr>
              <a:t>Security &amp; Future Roadmap</a:t>
            </a:r>
            <a:endParaRPr lang="en-US" sz="3300" dirty="0"/>
          </a:p>
        </p:txBody>
      </p:sp>
      <p:sp>
        <p:nvSpPr>
          <p:cNvPr id="5" name="Shape 1"/>
          <p:cNvSpPr/>
          <p:nvPr/>
        </p:nvSpPr>
        <p:spPr>
          <a:xfrm>
            <a:off x="571500" y="1510903"/>
            <a:ext cx="3857625" cy="3332504"/>
          </a:xfrm>
          <a:prstGeom prst="rect">
            <a:avLst/>
          </a:prstGeom>
          <a:solidFill>
            <a:srgbClr val="FFFFFF">
              <a:alpha val="3000"/>
            </a:srgbClr>
          </a:solidFill>
          <a:ln w="9144">
            <a:solidFill>
              <a:srgbClr val="FFFFFF">
                <a:alpha val="10000"/>
              </a:srgbClr>
            </a:solidFill>
            <a:prstDash val="solid"/>
          </a:ln>
        </p:spPr>
      </p:sp>
      <p:pic>
        <p:nvPicPr>
          <p:cNvPr id="6" name="Image 1" descr="preencoded.png">    </p:cNvPr>
          <p:cNvPicPr>
            <a:picLocks noChangeAspect="1"/>
          </p:cNvPicPr>
          <p:nvPr/>
        </p:nvPicPr>
        <p:blipFill>
          <a:blip r:embed="rId2"/>
          <a:stretch>
            <a:fillRect/>
          </a:stretch>
        </p:blipFill>
        <p:spPr>
          <a:xfrm>
            <a:off x="857250" y="1820763"/>
            <a:ext cx="228600" cy="228600"/>
          </a:xfrm>
          <a:prstGeom prst="rect">
            <a:avLst/>
          </a:prstGeom>
        </p:spPr>
      </p:pic>
      <p:sp>
        <p:nvSpPr>
          <p:cNvPr id="7" name="Text 2"/>
          <p:cNvSpPr/>
          <p:nvPr/>
        </p:nvSpPr>
        <p:spPr>
          <a:xfrm>
            <a:off x="1193006" y="1796653"/>
            <a:ext cx="1719858" cy="276820"/>
          </a:xfrm>
          <a:prstGeom prst="rect">
            <a:avLst/>
          </a:prstGeom>
          <a:noFill/>
          <a:ln/>
        </p:spPr>
        <p:txBody>
          <a:bodyPr wrap="square" lIns="0" tIns="0" rIns="0" bIns="0" rtlCol="0" anchor="t">
            <a:spAutoFit/>
          </a:bodyPr>
          <a:lstStyle/>
          <a:p>
            <a:pPr algn="l" indent="0" marL="0">
              <a:buNone/>
            </a:pPr>
            <a:r>
              <a:rPr lang="en-US" sz="1600" b="1" dirty="0">
                <a:solidFill>
                  <a:srgbClr val="FF5722"/>
                </a:solidFill>
                <a:latin typeface="Inter ExtraBold" pitchFamily="34" charset="0"/>
                <a:ea typeface="Inter ExtraBold" pitchFamily="34" charset="-122"/>
                <a:cs typeface="Inter ExtraBold" pitchFamily="34" charset="-120"/>
              </a:rPr>
              <a:t>Security Model</a:t>
            </a:r>
            <a:endParaRPr lang="en-US" sz="1600" dirty="0"/>
          </a:p>
        </p:txBody>
      </p:sp>
      <p:sp>
        <p:nvSpPr>
          <p:cNvPr id="8" name="Shape 3"/>
          <p:cNvSpPr/>
          <p:nvPr/>
        </p:nvSpPr>
        <p:spPr>
          <a:xfrm>
            <a:off x="857250" y="2287786"/>
            <a:ext cx="285750" cy="285750"/>
          </a:xfrm>
          <a:prstGeom prst="rect">
            <a:avLst/>
          </a:prstGeom>
          <a:solidFill>
            <a:srgbClr val="FF5722">
              <a:alpha val="10000"/>
            </a:srgbClr>
          </a:solidFill>
          <a:ln/>
        </p:spPr>
      </p:sp>
      <p:pic>
        <p:nvPicPr>
          <p:cNvPr id="9" name="Image 2" descr="preencoded.png">    </p:cNvPr>
          <p:cNvPicPr>
            <a:picLocks noChangeAspect="1"/>
          </p:cNvPicPr>
          <p:nvPr/>
        </p:nvPicPr>
        <p:blipFill>
          <a:blip r:embed="rId3"/>
          <a:stretch>
            <a:fillRect/>
          </a:stretch>
        </p:blipFill>
        <p:spPr>
          <a:xfrm>
            <a:off x="943868" y="2366367"/>
            <a:ext cx="112514" cy="128588"/>
          </a:xfrm>
          <a:prstGeom prst="rect">
            <a:avLst/>
          </a:prstGeom>
        </p:spPr>
      </p:pic>
      <p:sp>
        <p:nvSpPr>
          <p:cNvPr id="10" name="Text 4"/>
          <p:cNvSpPr/>
          <p:nvPr/>
        </p:nvSpPr>
        <p:spPr>
          <a:xfrm>
            <a:off x="1285875" y="2287786"/>
            <a:ext cx="2850356"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ExtraBold" pitchFamily="34" charset="0"/>
                <a:ea typeface="Inter ExtraBold" pitchFamily="34" charset="-122"/>
                <a:cs typeface="Inter ExtraBold" pitchFamily="34" charset="-120"/>
              </a:rPr>
              <a:t>bcrypt Hashing</a:t>
            </a:r>
            <a:endParaRPr lang="en-US" sz="1000" dirty="0"/>
          </a:p>
        </p:txBody>
      </p:sp>
      <p:sp>
        <p:nvSpPr>
          <p:cNvPr id="11" name="Text 5"/>
          <p:cNvSpPr/>
          <p:nvPr/>
        </p:nvSpPr>
        <p:spPr>
          <a:xfrm>
            <a:off x="1285875" y="2496741"/>
            <a:ext cx="2850356"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9CA3AF"/>
                </a:solidFill>
                <a:latin typeface="Inter" pitchFamily="34" charset="0"/>
                <a:ea typeface="Inter" pitchFamily="34" charset="-122"/>
                <a:cs typeface="Inter" pitchFamily="34" charset="-120"/>
              </a:rPr>
              <a:t>Salted password encryption for admin authentication.</a:t>
            </a:r>
            <a:endParaRPr lang="en-US" sz="850" dirty="0"/>
          </a:p>
        </p:txBody>
      </p:sp>
      <p:sp>
        <p:nvSpPr>
          <p:cNvPr id="12" name="Shape 6"/>
          <p:cNvSpPr/>
          <p:nvPr/>
        </p:nvSpPr>
        <p:spPr>
          <a:xfrm>
            <a:off x="857250" y="2995352"/>
            <a:ext cx="285750" cy="285750"/>
          </a:xfrm>
          <a:prstGeom prst="rect">
            <a:avLst/>
          </a:prstGeom>
          <a:solidFill>
            <a:srgbClr val="FF5722">
              <a:alpha val="10000"/>
            </a:srgbClr>
          </a:solidFill>
          <a:ln/>
        </p:spPr>
      </p:sp>
      <p:pic>
        <p:nvPicPr>
          <p:cNvPr id="13" name="Image 3" descr="preencoded.png">    </p:cNvPr>
          <p:cNvPicPr>
            <a:picLocks noChangeAspect="1"/>
          </p:cNvPicPr>
          <p:nvPr/>
        </p:nvPicPr>
        <p:blipFill>
          <a:blip r:embed="rId4"/>
          <a:stretch>
            <a:fillRect/>
          </a:stretch>
        </p:blipFill>
        <p:spPr>
          <a:xfrm>
            <a:off x="935831" y="3073933"/>
            <a:ext cx="128588" cy="128588"/>
          </a:xfrm>
          <a:prstGeom prst="rect">
            <a:avLst/>
          </a:prstGeom>
        </p:spPr>
      </p:pic>
      <p:sp>
        <p:nvSpPr>
          <p:cNvPr id="14" name="Text 7"/>
          <p:cNvSpPr/>
          <p:nvPr/>
        </p:nvSpPr>
        <p:spPr>
          <a:xfrm>
            <a:off x="1285875" y="2995352"/>
            <a:ext cx="2850356"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ExtraBold" pitchFamily="34" charset="0"/>
                <a:ea typeface="Inter ExtraBold" pitchFamily="34" charset="-122"/>
                <a:cs typeface="Inter ExtraBold" pitchFamily="34" charset="-120"/>
              </a:rPr>
              <a:t>UUID Tokens</a:t>
            </a:r>
            <a:endParaRPr lang="en-US" sz="1000" dirty="0"/>
          </a:p>
        </p:txBody>
      </p:sp>
      <p:sp>
        <p:nvSpPr>
          <p:cNvPr id="15" name="Text 8"/>
          <p:cNvSpPr/>
          <p:nvPr/>
        </p:nvSpPr>
        <p:spPr>
          <a:xfrm>
            <a:off x="1285875" y="3204307"/>
            <a:ext cx="2850356"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9CA3AF"/>
                </a:solidFill>
                <a:latin typeface="Inter" pitchFamily="34" charset="0"/>
                <a:ea typeface="Inter" pitchFamily="34" charset="-122"/>
                <a:cs typeface="Inter" pitchFamily="34" charset="-120"/>
              </a:rPr>
              <a:t>Bearer token-based authorization for all API requests.</a:t>
            </a:r>
            <a:endParaRPr lang="en-US" sz="850" dirty="0"/>
          </a:p>
        </p:txBody>
      </p:sp>
      <p:sp>
        <p:nvSpPr>
          <p:cNvPr id="16" name="Shape 9"/>
          <p:cNvSpPr/>
          <p:nvPr/>
        </p:nvSpPr>
        <p:spPr>
          <a:xfrm>
            <a:off x="857250" y="3702918"/>
            <a:ext cx="285750" cy="285750"/>
          </a:xfrm>
          <a:prstGeom prst="rect">
            <a:avLst/>
          </a:prstGeom>
          <a:solidFill>
            <a:srgbClr val="FF5722">
              <a:alpha val="10000"/>
            </a:srgbClr>
          </a:solidFill>
          <a:ln/>
        </p:spPr>
      </p:sp>
      <p:pic>
        <p:nvPicPr>
          <p:cNvPr id="17" name="Image 4" descr="preencoded.png">    </p:cNvPr>
          <p:cNvPicPr>
            <a:picLocks noChangeAspect="1"/>
          </p:cNvPicPr>
          <p:nvPr/>
        </p:nvPicPr>
        <p:blipFill>
          <a:blip r:embed="rId5"/>
          <a:stretch>
            <a:fillRect/>
          </a:stretch>
        </p:blipFill>
        <p:spPr>
          <a:xfrm>
            <a:off x="919758" y="3781499"/>
            <a:ext cx="160734" cy="128588"/>
          </a:xfrm>
          <a:prstGeom prst="rect">
            <a:avLst/>
          </a:prstGeom>
        </p:spPr>
      </p:pic>
      <p:sp>
        <p:nvSpPr>
          <p:cNvPr id="18" name="Text 10"/>
          <p:cNvSpPr/>
          <p:nvPr/>
        </p:nvSpPr>
        <p:spPr>
          <a:xfrm>
            <a:off x="1285875" y="3702918"/>
            <a:ext cx="2850356"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ExtraBold" pitchFamily="34" charset="0"/>
                <a:ea typeface="Inter ExtraBold" pitchFamily="34" charset="-122"/>
                <a:cs typeface="Inter ExtraBold" pitchFamily="34" charset="-120"/>
              </a:rPr>
              <a:t>Protected Routes</a:t>
            </a:r>
            <a:endParaRPr lang="en-US" sz="1000" dirty="0"/>
          </a:p>
        </p:txBody>
      </p:sp>
      <p:sp>
        <p:nvSpPr>
          <p:cNvPr id="19" name="Text 11"/>
          <p:cNvSpPr/>
          <p:nvPr/>
        </p:nvSpPr>
        <p:spPr>
          <a:xfrm>
            <a:off x="1285875" y="3911873"/>
            <a:ext cx="2850356"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9CA3AF"/>
                </a:solidFill>
                <a:latin typeface="Inter" pitchFamily="34" charset="0"/>
                <a:ea typeface="Inter" pitchFamily="34" charset="-122"/>
                <a:cs typeface="Inter" pitchFamily="34" charset="-120"/>
              </a:rPr>
              <a:t>Backend decorators and React guards for session security.</a:t>
            </a:r>
            <a:endParaRPr lang="en-US" sz="850" dirty="0"/>
          </a:p>
        </p:txBody>
      </p:sp>
      <p:sp>
        <p:nvSpPr>
          <p:cNvPr id="20" name="Shape 12"/>
          <p:cNvSpPr/>
          <p:nvPr/>
        </p:nvSpPr>
        <p:spPr>
          <a:xfrm>
            <a:off x="4707731" y="1510903"/>
            <a:ext cx="3864769" cy="3332504"/>
          </a:xfrm>
          <a:prstGeom prst="rect">
            <a:avLst/>
          </a:prstGeom>
          <a:solidFill>
            <a:srgbClr val="FFFFFF">
              <a:alpha val="3000"/>
            </a:srgbClr>
          </a:solidFill>
          <a:ln w="9144">
            <a:solidFill>
              <a:srgbClr val="FFFFFF">
                <a:alpha val="10000"/>
              </a:srgbClr>
            </a:solidFill>
            <a:prstDash val="solid"/>
          </a:ln>
        </p:spPr>
      </p:sp>
      <p:pic>
        <p:nvPicPr>
          <p:cNvPr id="21" name="Image 5" descr="preencoded.png">    </p:cNvPr>
          <p:cNvPicPr>
            <a:picLocks noChangeAspect="1"/>
          </p:cNvPicPr>
          <p:nvPr/>
        </p:nvPicPr>
        <p:blipFill>
          <a:blip r:embed="rId6"/>
          <a:stretch>
            <a:fillRect/>
          </a:stretch>
        </p:blipFill>
        <p:spPr>
          <a:xfrm>
            <a:off x="5000625" y="1820763"/>
            <a:ext cx="228600" cy="228600"/>
          </a:xfrm>
          <a:prstGeom prst="rect">
            <a:avLst/>
          </a:prstGeom>
        </p:spPr>
      </p:pic>
      <p:sp>
        <p:nvSpPr>
          <p:cNvPr id="22" name="Text 13"/>
          <p:cNvSpPr/>
          <p:nvPr/>
        </p:nvSpPr>
        <p:spPr>
          <a:xfrm>
            <a:off x="5336381" y="1796653"/>
            <a:ext cx="1493044" cy="276820"/>
          </a:xfrm>
          <a:prstGeom prst="rect">
            <a:avLst/>
          </a:prstGeom>
          <a:noFill/>
          <a:ln/>
        </p:spPr>
        <p:txBody>
          <a:bodyPr wrap="square" lIns="0" tIns="0" rIns="0" bIns="0" rtlCol="0" anchor="t">
            <a:spAutoFit/>
          </a:bodyPr>
          <a:lstStyle/>
          <a:p>
            <a:pPr algn="l" indent="0" marL="0">
              <a:buNone/>
            </a:pPr>
            <a:r>
              <a:rPr lang="en-US" sz="1600" b="1" dirty="0">
                <a:solidFill>
                  <a:srgbClr val="FF5722"/>
                </a:solidFill>
                <a:latin typeface="Inter ExtraBold" pitchFamily="34" charset="0"/>
                <a:ea typeface="Inter ExtraBold" pitchFamily="34" charset="-122"/>
                <a:cs typeface="Inter ExtraBold" pitchFamily="34" charset="-120"/>
              </a:rPr>
              <a:t>Future Scope</a:t>
            </a:r>
            <a:endParaRPr lang="en-US" sz="1600" dirty="0"/>
          </a:p>
        </p:txBody>
      </p:sp>
      <p:sp>
        <p:nvSpPr>
          <p:cNvPr id="23" name="Shape 14"/>
          <p:cNvSpPr/>
          <p:nvPr/>
        </p:nvSpPr>
        <p:spPr>
          <a:xfrm>
            <a:off x="5000625" y="2287786"/>
            <a:ext cx="285750" cy="285750"/>
          </a:xfrm>
          <a:prstGeom prst="rect">
            <a:avLst/>
          </a:prstGeom>
          <a:solidFill>
            <a:srgbClr val="FF5722">
              <a:alpha val="10000"/>
            </a:srgbClr>
          </a:solidFill>
          <a:ln/>
        </p:spPr>
      </p:sp>
      <p:pic>
        <p:nvPicPr>
          <p:cNvPr id="24" name="Image 6" descr="preencoded.png">    </p:cNvPr>
          <p:cNvPicPr>
            <a:picLocks noChangeAspect="1"/>
          </p:cNvPicPr>
          <p:nvPr/>
        </p:nvPicPr>
        <p:blipFill>
          <a:blip r:embed="rId7"/>
          <a:stretch>
            <a:fillRect/>
          </a:stretch>
        </p:blipFill>
        <p:spPr>
          <a:xfrm>
            <a:off x="5063133" y="2366367"/>
            <a:ext cx="160734" cy="128588"/>
          </a:xfrm>
          <a:prstGeom prst="rect">
            <a:avLst/>
          </a:prstGeom>
        </p:spPr>
      </p:pic>
      <p:sp>
        <p:nvSpPr>
          <p:cNvPr id="25" name="Shape 15"/>
          <p:cNvSpPr/>
          <p:nvPr/>
        </p:nvSpPr>
        <p:spPr>
          <a:xfrm>
            <a:off x="5429250" y="2287786"/>
            <a:ext cx="2836069" cy="157163"/>
          </a:xfrm>
          <a:prstGeom prst="rect">
            <a:avLst/>
          </a:prstGeom>
          <a:solidFill>
            <a:srgbClr val="FF5722"/>
          </a:solidFill>
          <a:ln/>
        </p:spPr>
      </p:sp>
      <p:sp>
        <p:nvSpPr>
          <p:cNvPr id="26" name="Text 16"/>
          <p:cNvSpPr/>
          <p:nvPr/>
        </p:nvSpPr>
        <p:spPr>
          <a:xfrm>
            <a:off x="5429250" y="2287786"/>
            <a:ext cx="2836069" cy="157163"/>
          </a:xfrm>
          <a:prstGeom prst="rect">
            <a:avLst/>
          </a:prstGeom>
          <a:noFill/>
          <a:ln/>
        </p:spPr>
        <p:txBody>
          <a:bodyPr wrap="square" lIns="68072" tIns="17018" rIns="68072" bIns="0" rtlCol="0" anchor="t">
            <a:spAutoFit/>
          </a:bodyPr>
          <a:lstStyle/>
          <a:p>
            <a:pPr algn="l" indent="0" marL="0">
              <a:buNone/>
            </a:pPr>
            <a:r>
              <a:rPr lang="en-US" sz="600" b="1" dirty="0">
                <a:solidFill>
                  <a:srgbClr val="FFFFFF"/>
                </a:solidFill>
                <a:latin typeface="Inter ExtraBold" pitchFamily="34" charset="0"/>
                <a:ea typeface="Inter ExtraBold" pitchFamily="34" charset="-122"/>
                <a:cs typeface="Inter ExtraBold" pitchFamily="34" charset="-120"/>
              </a:rPr>
              <a:t>PHASE 2</a:t>
            </a:r>
            <a:endParaRPr lang="en-US" sz="600" dirty="0"/>
          </a:p>
        </p:txBody>
      </p:sp>
      <p:sp>
        <p:nvSpPr>
          <p:cNvPr id="27" name="Text 17"/>
          <p:cNvSpPr/>
          <p:nvPr/>
        </p:nvSpPr>
        <p:spPr>
          <a:xfrm>
            <a:off x="5429250" y="2480667"/>
            <a:ext cx="2836069"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ExtraBold" pitchFamily="34" charset="0"/>
                <a:ea typeface="Inter ExtraBold" pitchFamily="34" charset="-122"/>
                <a:cs typeface="Inter ExtraBold" pitchFamily="34" charset="-120"/>
              </a:rPr>
              <a:t>Liveness Detection</a:t>
            </a:r>
            <a:endParaRPr lang="en-US" sz="1000" dirty="0"/>
          </a:p>
        </p:txBody>
      </p:sp>
      <p:sp>
        <p:nvSpPr>
          <p:cNvPr id="28" name="Text 18"/>
          <p:cNvSpPr/>
          <p:nvPr/>
        </p:nvSpPr>
        <p:spPr>
          <a:xfrm>
            <a:off x="5429250" y="2689622"/>
            <a:ext cx="2836069" cy="160009"/>
          </a:xfrm>
          <a:prstGeom prst="rect">
            <a:avLst/>
          </a:prstGeom>
          <a:noFill/>
          <a:ln/>
        </p:spPr>
        <p:txBody>
          <a:bodyPr wrap="none" lIns="0" tIns="0" rIns="0" bIns="0" rtlCol="0" anchor="t">
            <a:spAutoFit/>
          </a:bodyPr>
          <a:lstStyle/>
          <a:p>
            <a:pPr algn="l" indent="0" marL="0">
              <a:lnSpc>
                <a:spcPct val="112000"/>
              </a:lnSpc>
              <a:buNone/>
            </a:pPr>
            <a:r>
              <a:rPr lang="en-US" sz="850" dirty="0">
                <a:solidFill>
                  <a:srgbClr val="9CA3AF"/>
                </a:solidFill>
                <a:latin typeface="Inter" pitchFamily="34" charset="0"/>
                <a:ea typeface="Inter" pitchFamily="34" charset="-122"/>
                <a:cs typeface="Inter" pitchFamily="34" charset="-120"/>
              </a:rPr>
              <a:t>Anti-spoofing to prevent photo/video-based attacks.</a:t>
            </a:r>
            <a:endParaRPr lang="en-US" sz="850" dirty="0"/>
          </a:p>
        </p:txBody>
      </p:sp>
      <p:sp>
        <p:nvSpPr>
          <p:cNvPr id="29" name="Shape 19"/>
          <p:cNvSpPr/>
          <p:nvPr/>
        </p:nvSpPr>
        <p:spPr>
          <a:xfrm>
            <a:off x="5000625" y="3028224"/>
            <a:ext cx="285750" cy="285750"/>
          </a:xfrm>
          <a:prstGeom prst="rect">
            <a:avLst/>
          </a:prstGeom>
          <a:solidFill>
            <a:srgbClr val="FF5722">
              <a:alpha val="10000"/>
            </a:srgbClr>
          </a:solidFill>
          <a:ln/>
        </p:spPr>
      </p:sp>
      <p:pic>
        <p:nvPicPr>
          <p:cNvPr id="30" name="Image 7" descr="preencoded.png">    </p:cNvPr>
          <p:cNvPicPr>
            <a:picLocks noChangeAspect="1"/>
          </p:cNvPicPr>
          <p:nvPr/>
        </p:nvPicPr>
        <p:blipFill>
          <a:blip r:embed="rId8"/>
          <a:stretch>
            <a:fillRect/>
          </a:stretch>
        </p:blipFill>
        <p:spPr>
          <a:xfrm>
            <a:off x="5063133" y="3106806"/>
            <a:ext cx="160734" cy="128588"/>
          </a:xfrm>
          <a:prstGeom prst="rect">
            <a:avLst/>
          </a:prstGeom>
        </p:spPr>
      </p:pic>
      <p:sp>
        <p:nvSpPr>
          <p:cNvPr id="31" name="Shape 20"/>
          <p:cNvSpPr/>
          <p:nvPr/>
        </p:nvSpPr>
        <p:spPr>
          <a:xfrm>
            <a:off x="5429250" y="3028224"/>
            <a:ext cx="2857500" cy="157163"/>
          </a:xfrm>
          <a:prstGeom prst="rect">
            <a:avLst/>
          </a:prstGeom>
          <a:solidFill>
            <a:srgbClr val="FF5722"/>
          </a:solidFill>
          <a:ln/>
        </p:spPr>
      </p:sp>
      <p:sp>
        <p:nvSpPr>
          <p:cNvPr id="32" name="Text 21"/>
          <p:cNvSpPr/>
          <p:nvPr/>
        </p:nvSpPr>
        <p:spPr>
          <a:xfrm>
            <a:off x="5429250" y="3028224"/>
            <a:ext cx="2857500" cy="157163"/>
          </a:xfrm>
          <a:prstGeom prst="rect">
            <a:avLst/>
          </a:prstGeom>
          <a:noFill/>
          <a:ln/>
        </p:spPr>
        <p:txBody>
          <a:bodyPr wrap="square" lIns="68072" tIns="17018" rIns="68072" bIns="0" rtlCol="0" anchor="t">
            <a:spAutoFit/>
          </a:bodyPr>
          <a:lstStyle/>
          <a:p>
            <a:pPr algn="l" indent="0" marL="0">
              <a:buNone/>
            </a:pPr>
            <a:r>
              <a:rPr lang="en-US" sz="600" b="1" dirty="0">
                <a:solidFill>
                  <a:srgbClr val="FFFFFF"/>
                </a:solidFill>
                <a:latin typeface="Inter ExtraBold" pitchFamily="34" charset="0"/>
                <a:ea typeface="Inter ExtraBold" pitchFamily="34" charset="-122"/>
                <a:cs typeface="Inter ExtraBold" pitchFamily="34" charset="-120"/>
              </a:rPr>
              <a:t>PHASE 3</a:t>
            </a:r>
            <a:endParaRPr lang="en-US" sz="600" dirty="0"/>
          </a:p>
        </p:txBody>
      </p:sp>
      <p:sp>
        <p:nvSpPr>
          <p:cNvPr id="33" name="Text 22"/>
          <p:cNvSpPr/>
          <p:nvPr/>
        </p:nvSpPr>
        <p:spPr>
          <a:xfrm>
            <a:off x="5429250" y="3221106"/>
            <a:ext cx="2857500"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ExtraBold" pitchFamily="34" charset="0"/>
                <a:ea typeface="Inter ExtraBold" pitchFamily="34" charset="-122"/>
                <a:cs typeface="Inter ExtraBold" pitchFamily="34" charset="-120"/>
              </a:rPr>
              <a:t>Multi-Role System</a:t>
            </a:r>
            <a:endParaRPr lang="en-US" sz="1000" dirty="0"/>
          </a:p>
        </p:txBody>
      </p:sp>
      <p:sp>
        <p:nvSpPr>
          <p:cNvPr id="34" name="Text 23"/>
          <p:cNvSpPr/>
          <p:nvPr/>
        </p:nvSpPr>
        <p:spPr>
          <a:xfrm>
            <a:off x="5429250" y="3430060"/>
            <a:ext cx="2857500"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9CA3AF"/>
                </a:solidFill>
                <a:latin typeface="Inter" pitchFamily="34" charset="0"/>
                <a:ea typeface="Inter" pitchFamily="34" charset="-122"/>
                <a:cs typeface="Inter" pitchFamily="34" charset="-120"/>
              </a:rPr>
              <a:t>Separate teacher accounts and branch-wise management.</a:t>
            </a:r>
            <a:endParaRPr lang="en-US" sz="850" dirty="0"/>
          </a:p>
        </p:txBody>
      </p:sp>
      <p:sp>
        <p:nvSpPr>
          <p:cNvPr id="35" name="Shape 24"/>
          <p:cNvSpPr/>
          <p:nvPr/>
        </p:nvSpPr>
        <p:spPr>
          <a:xfrm>
            <a:off x="5000625" y="3928672"/>
            <a:ext cx="285750" cy="285750"/>
          </a:xfrm>
          <a:prstGeom prst="rect">
            <a:avLst/>
          </a:prstGeom>
          <a:solidFill>
            <a:srgbClr val="FF5722">
              <a:alpha val="10000"/>
            </a:srgbClr>
          </a:solidFill>
          <a:ln/>
        </p:spPr>
      </p:sp>
      <p:pic>
        <p:nvPicPr>
          <p:cNvPr id="36" name="Image 8" descr="preencoded.png">    </p:cNvPr>
          <p:cNvPicPr>
            <a:picLocks noChangeAspect="1"/>
          </p:cNvPicPr>
          <p:nvPr/>
        </p:nvPicPr>
        <p:blipFill>
          <a:blip r:embed="rId9"/>
          <a:stretch>
            <a:fillRect/>
          </a:stretch>
        </p:blipFill>
        <p:spPr>
          <a:xfrm>
            <a:off x="5063133" y="4007253"/>
            <a:ext cx="160734" cy="128588"/>
          </a:xfrm>
          <a:prstGeom prst="rect">
            <a:avLst/>
          </a:prstGeom>
        </p:spPr>
      </p:pic>
      <p:sp>
        <p:nvSpPr>
          <p:cNvPr id="37" name="Shape 25"/>
          <p:cNvSpPr/>
          <p:nvPr/>
        </p:nvSpPr>
        <p:spPr>
          <a:xfrm>
            <a:off x="5429250" y="3928672"/>
            <a:ext cx="2857500" cy="157163"/>
          </a:xfrm>
          <a:prstGeom prst="rect">
            <a:avLst/>
          </a:prstGeom>
          <a:solidFill>
            <a:srgbClr val="FF5722"/>
          </a:solidFill>
          <a:ln/>
        </p:spPr>
      </p:sp>
      <p:sp>
        <p:nvSpPr>
          <p:cNvPr id="38" name="Text 26"/>
          <p:cNvSpPr/>
          <p:nvPr/>
        </p:nvSpPr>
        <p:spPr>
          <a:xfrm>
            <a:off x="5429250" y="3928672"/>
            <a:ext cx="2857500" cy="157163"/>
          </a:xfrm>
          <a:prstGeom prst="rect">
            <a:avLst/>
          </a:prstGeom>
          <a:noFill/>
          <a:ln/>
        </p:spPr>
        <p:txBody>
          <a:bodyPr wrap="square" lIns="68072" tIns="17018" rIns="68072" bIns="0" rtlCol="0" anchor="t">
            <a:spAutoFit/>
          </a:bodyPr>
          <a:lstStyle/>
          <a:p>
            <a:pPr algn="l" indent="0" marL="0">
              <a:buNone/>
            </a:pPr>
            <a:r>
              <a:rPr lang="en-US" sz="600" b="1" dirty="0">
                <a:solidFill>
                  <a:srgbClr val="FFFFFF"/>
                </a:solidFill>
                <a:latin typeface="Inter ExtraBold" pitchFamily="34" charset="0"/>
                <a:ea typeface="Inter ExtraBold" pitchFamily="34" charset="-122"/>
                <a:cs typeface="Inter ExtraBold" pitchFamily="34" charset="-120"/>
              </a:rPr>
              <a:t>PHASE 4</a:t>
            </a:r>
            <a:endParaRPr lang="en-US" sz="600" dirty="0"/>
          </a:p>
        </p:txBody>
      </p:sp>
      <p:sp>
        <p:nvSpPr>
          <p:cNvPr id="39" name="Text 27"/>
          <p:cNvSpPr/>
          <p:nvPr/>
        </p:nvSpPr>
        <p:spPr>
          <a:xfrm>
            <a:off x="5429250" y="4121553"/>
            <a:ext cx="2857500" cy="173236"/>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ExtraBold" pitchFamily="34" charset="0"/>
                <a:ea typeface="Inter ExtraBold" pitchFamily="34" charset="-122"/>
                <a:cs typeface="Inter ExtraBold" pitchFamily="34" charset="-120"/>
              </a:rPr>
              <a:t>Cloud Integration</a:t>
            </a:r>
            <a:endParaRPr lang="en-US" sz="1000" dirty="0"/>
          </a:p>
        </p:txBody>
      </p:sp>
      <p:sp>
        <p:nvSpPr>
          <p:cNvPr id="40" name="Text 28"/>
          <p:cNvSpPr/>
          <p:nvPr/>
        </p:nvSpPr>
        <p:spPr>
          <a:xfrm>
            <a:off x="5429250" y="4330508"/>
            <a:ext cx="2857500" cy="320018"/>
          </a:xfrm>
          <a:prstGeom prst="rect">
            <a:avLst/>
          </a:prstGeom>
          <a:noFill/>
          <a:ln/>
        </p:spPr>
        <p:txBody>
          <a:bodyPr wrap="square" lIns="0" tIns="0" rIns="0" bIns="0" rtlCol="0" anchor="t">
            <a:spAutoFit/>
          </a:bodyPr>
          <a:lstStyle/>
          <a:p>
            <a:pPr algn="l" indent="0" marL="0">
              <a:lnSpc>
                <a:spcPct val="112000"/>
              </a:lnSpc>
              <a:buNone/>
            </a:pPr>
            <a:r>
              <a:rPr lang="en-US" sz="850" dirty="0">
                <a:solidFill>
                  <a:srgbClr val="9CA3AF"/>
                </a:solidFill>
                <a:latin typeface="Inter" pitchFamily="34" charset="0"/>
                <a:ea typeface="Inter" pitchFamily="34" charset="-122"/>
                <a:cs typeface="Inter" pitchFamily="34" charset="-120"/>
              </a:rPr>
              <a:t>Migrating to PostgreSQL for multi-campus scalability.</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1836837" y="778669"/>
            <a:ext cx="5470327" cy="3586163"/>
          </a:xfrm>
          <a:prstGeom prst="rect">
            <a:avLst/>
          </a:prstGeom>
          <a:solidFill>
            <a:srgbClr val="FFFFFF">
              <a:alpha val="3000"/>
            </a:srgbClr>
          </a:solidFill>
          <a:ln w="9144">
            <a:solidFill>
              <a:srgbClr val="FFFFFF">
                <a:alpha val="10000"/>
              </a:srgbClr>
            </a:solidFill>
            <a:prstDash val="solid"/>
          </a:ln>
        </p:spPr>
      </p:sp>
      <p:sp>
        <p:nvSpPr>
          <p:cNvPr id="5" name="Text 1"/>
          <p:cNvSpPr/>
          <p:nvPr/>
        </p:nvSpPr>
        <p:spPr>
          <a:xfrm>
            <a:off x="3077170" y="1143000"/>
            <a:ext cx="2989659" cy="571500"/>
          </a:xfrm>
          <a:prstGeom prst="rect">
            <a:avLst/>
          </a:prstGeom>
          <a:noFill/>
          <a:ln/>
        </p:spPr>
        <p:txBody>
          <a:bodyPr wrap="none" lIns="0" tIns="0" rIns="0" bIns="0" rtlCol="0" anchor="t">
            <a:spAutoFit/>
          </a:bodyPr>
          <a:lstStyle/>
          <a:p>
            <a:pPr algn="ctr" indent="0" marL="0">
              <a:lnSpc>
                <a:spcPct val="80000"/>
              </a:lnSpc>
              <a:buNone/>
            </a:pPr>
            <a:r>
              <a:rPr lang="en-US" sz="4150" b="1" dirty="0">
                <a:solidFill>
                  <a:srgbClr val="FF5722"/>
                </a:solidFill>
                <a:latin typeface="Inter ExtraBold" pitchFamily="34" charset="0"/>
                <a:ea typeface="Inter ExtraBold" pitchFamily="34" charset="-122"/>
                <a:cs typeface="Inter ExtraBold" pitchFamily="34" charset="-120"/>
              </a:rPr>
              <a:t>Thank You</a:t>
            </a:r>
            <a:endParaRPr lang="en-US" sz="4150" dirty="0"/>
          </a:p>
        </p:txBody>
      </p:sp>
      <p:sp>
        <p:nvSpPr>
          <p:cNvPr id="6" name="Text 2"/>
          <p:cNvSpPr/>
          <p:nvPr/>
        </p:nvSpPr>
        <p:spPr>
          <a:xfrm>
            <a:off x="3614738" y="1821656"/>
            <a:ext cx="1914525" cy="276820"/>
          </a:xfrm>
          <a:prstGeom prst="rect">
            <a:avLst/>
          </a:prstGeom>
          <a:noFill/>
          <a:ln/>
        </p:spPr>
        <p:txBody>
          <a:bodyPr wrap="square" lIns="0" tIns="0" rIns="0" bIns="0" rtlCol="0" anchor="t">
            <a:spAutoFit/>
          </a:bodyPr>
          <a:lstStyle/>
          <a:p>
            <a:pPr algn="ctr" indent="0" marL="0">
              <a:buNone/>
            </a:pPr>
            <a:r>
              <a:rPr lang="en-US" sz="1700" spc="2" kern="0" dirty="0">
                <a:solidFill>
                  <a:srgbClr val="FF5722"/>
                </a:solidFill>
                <a:latin typeface="Inter Medium" pitchFamily="34" charset="0"/>
                <a:ea typeface="Inter Medium" pitchFamily="34" charset="-122"/>
                <a:cs typeface="Inter Medium" pitchFamily="34" charset="-120"/>
              </a:rPr>
              <a:t>Any Questions?</a:t>
            </a:r>
            <a:endParaRPr lang="en-US" sz="1700" dirty="0"/>
          </a:p>
        </p:txBody>
      </p:sp>
      <p:sp>
        <p:nvSpPr>
          <p:cNvPr id="7" name="Text 3"/>
          <p:cNvSpPr/>
          <p:nvPr/>
        </p:nvSpPr>
        <p:spPr>
          <a:xfrm>
            <a:off x="4156770" y="2384227"/>
            <a:ext cx="830461" cy="121444"/>
          </a:xfrm>
          <a:prstGeom prst="rect">
            <a:avLst/>
          </a:prstGeom>
          <a:noFill/>
          <a:ln/>
        </p:spPr>
        <p:txBody>
          <a:bodyPr wrap="none" lIns="0" tIns="0" rIns="0" bIns="0" rtlCol="0" anchor="t">
            <a:spAutoFit/>
          </a:bodyPr>
          <a:lstStyle/>
          <a:p>
            <a:pPr algn="l" indent="0" marL="0">
              <a:buNone/>
            </a:pPr>
            <a:r>
              <a:rPr lang="en-US" sz="700" b="1" dirty="0">
                <a:solidFill>
                  <a:srgbClr val="9CA3AF"/>
                </a:solidFill>
                <a:latin typeface="Inter ExtraBold" pitchFamily="34" charset="0"/>
                <a:ea typeface="Inter ExtraBold" pitchFamily="34" charset="-122"/>
                <a:cs typeface="Inter ExtraBold" pitchFamily="34" charset="-120"/>
              </a:rPr>
              <a:t>TEAM MEMBERS</a:t>
            </a:r>
            <a:endParaRPr lang="en-US" sz="700" dirty="0"/>
          </a:p>
        </p:txBody>
      </p:sp>
      <p:sp>
        <p:nvSpPr>
          <p:cNvPr id="8" name="Text 4"/>
          <p:cNvSpPr/>
          <p:nvPr/>
        </p:nvSpPr>
        <p:spPr>
          <a:xfrm>
            <a:off x="2502098" y="2612827"/>
            <a:ext cx="1189434" cy="155377"/>
          </a:xfrm>
          <a:prstGeom prst="rect">
            <a:avLst/>
          </a:prstGeom>
          <a:noFill/>
          <a:ln/>
        </p:spPr>
        <p:txBody>
          <a:bodyPr wrap="none" lIns="0" tIns="0" rIns="0" bIns="0" rtlCol="0" anchor="t">
            <a:spAutoFit/>
          </a:bodyPr>
          <a:lstStyle/>
          <a:p>
            <a:pPr algn="ctr" indent="0" marL="0">
              <a:buNone/>
            </a:pPr>
            <a:r>
              <a:rPr lang="en-US" sz="950" dirty="0">
                <a:solidFill>
                  <a:srgbClr val="FFFFFF"/>
                </a:solidFill>
                <a:latin typeface="Inter Medium" pitchFamily="34" charset="0"/>
                <a:ea typeface="Inter Medium" pitchFamily="34" charset="-122"/>
                <a:cs typeface="Inter Medium" pitchFamily="34" charset="-120"/>
              </a:rPr>
              <a:t>Om Agrawal</a:t>
            </a:r>
            <a:endParaRPr lang="en-US" sz="950" dirty="0"/>
          </a:p>
        </p:txBody>
      </p:sp>
      <p:sp>
        <p:nvSpPr>
          <p:cNvPr id="9" name="Text 5"/>
          <p:cNvSpPr/>
          <p:nvPr/>
        </p:nvSpPr>
        <p:spPr>
          <a:xfrm>
            <a:off x="3977283" y="2612827"/>
            <a:ext cx="1189434" cy="155377"/>
          </a:xfrm>
          <a:prstGeom prst="rect">
            <a:avLst/>
          </a:prstGeom>
          <a:noFill/>
          <a:ln/>
        </p:spPr>
        <p:txBody>
          <a:bodyPr wrap="none" lIns="0" tIns="0" rIns="0" bIns="0" rtlCol="0" anchor="t">
            <a:spAutoFit/>
          </a:bodyPr>
          <a:lstStyle/>
          <a:p>
            <a:pPr algn="ctr" indent="0" marL="0">
              <a:buNone/>
            </a:pPr>
            <a:r>
              <a:rPr lang="en-US" sz="950" dirty="0">
                <a:solidFill>
                  <a:srgbClr val="FFFFFF"/>
                </a:solidFill>
                <a:latin typeface="Inter Medium" pitchFamily="34" charset="0"/>
                <a:ea typeface="Inter Medium" pitchFamily="34" charset="-122"/>
                <a:cs typeface="Inter Medium" pitchFamily="34" charset="-120"/>
              </a:rPr>
              <a:t>Prajwal SJ</a:t>
            </a:r>
            <a:endParaRPr lang="en-US" sz="950" dirty="0"/>
          </a:p>
        </p:txBody>
      </p:sp>
      <p:sp>
        <p:nvSpPr>
          <p:cNvPr id="10" name="Text 6"/>
          <p:cNvSpPr/>
          <p:nvPr/>
        </p:nvSpPr>
        <p:spPr>
          <a:xfrm>
            <a:off x="5452467" y="2612827"/>
            <a:ext cx="1189434" cy="155377"/>
          </a:xfrm>
          <a:prstGeom prst="rect">
            <a:avLst/>
          </a:prstGeom>
          <a:noFill/>
          <a:ln/>
        </p:spPr>
        <p:txBody>
          <a:bodyPr wrap="none" lIns="0" tIns="0" rIns="0" bIns="0" rtlCol="0" anchor="t">
            <a:spAutoFit/>
          </a:bodyPr>
          <a:lstStyle/>
          <a:p>
            <a:pPr algn="ctr" indent="0" marL="0">
              <a:buNone/>
            </a:pPr>
            <a:r>
              <a:rPr lang="en-US" sz="950" dirty="0">
                <a:solidFill>
                  <a:srgbClr val="FFFFFF"/>
                </a:solidFill>
                <a:latin typeface="Inter Medium" pitchFamily="34" charset="0"/>
                <a:ea typeface="Inter Medium" pitchFamily="34" charset="-122"/>
                <a:cs typeface="Inter Medium" pitchFamily="34" charset="-120"/>
              </a:rPr>
              <a:t>Krish Kumar</a:t>
            </a:r>
            <a:endParaRPr lang="en-US" sz="950" dirty="0"/>
          </a:p>
        </p:txBody>
      </p:sp>
      <p:sp>
        <p:nvSpPr>
          <p:cNvPr id="11" name="Text 7"/>
          <p:cNvSpPr/>
          <p:nvPr/>
        </p:nvSpPr>
        <p:spPr>
          <a:xfrm>
            <a:off x="2502098" y="2839641"/>
            <a:ext cx="1189434" cy="155377"/>
          </a:xfrm>
          <a:prstGeom prst="rect">
            <a:avLst/>
          </a:prstGeom>
          <a:noFill/>
          <a:ln/>
        </p:spPr>
        <p:txBody>
          <a:bodyPr wrap="none" lIns="0" tIns="0" rIns="0" bIns="0" rtlCol="0" anchor="t">
            <a:spAutoFit/>
          </a:bodyPr>
          <a:lstStyle/>
          <a:p>
            <a:pPr algn="ctr" indent="0" marL="0">
              <a:buNone/>
            </a:pPr>
            <a:r>
              <a:rPr lang="en-US" sz="950" dirty="0">
                <a:solidFill>
                  <a:srgbClr val="FFFFFF"/>
                </a:solidFill>
                <a:latin typeface="Inter Medium" pitchFamily="34" charset="0"/>
                <a:ea typeface="Inter Medium" pitchFamily="34" charset="-122"/>
                <a:cs typeface="Inter Medium" pitchFamily="34" charset="-120"/>
              </a:rPr>
              <a:t>Sumuk N</a:t>
            </a:r>
            <a:endParaRPr lang="en-US" sz="950" dirty="0"/>
          </a:p>
        </p:txBody>
      </p:sp>
      <p:sp>
        <p:nvSpPr>
          <p:cNvPr id="12" name="Text 8"/>
          <p:cNvSpPr/>
          <p:nvPr/>
        </p:nvSpPr>
        <p:spPr>
          <a:xfrm>
            <a:off x="3977283" y="2839641"/>
            <a:ext cx="1189434" cy="155377"/>
          </a:xfrm>
          <a:prstGeom prst="rect">
            <a:avLst/>
          </a:prstGeom>
          <a:noFill/>
          <a:ln/>
        </p:spPr>
        <p:txBody>
          <a:bodyPr wrap="none" lIns="0" tIns="0" rIns="0" bIns="0" rtlCol="0" anchor="t">
            <a:spAutoFit/>
          </a:bodyPr>
          <a:lstStyle/>
          <a:p>
            <a:pPr algn="ctr" indent="0" marL="0">
              <a:buNone/>
            </a:pPr>
            <a:r>
              <a:rPr lang="en-US" sz="950" dirty="0">
                <a:solidFill>
                  <a:srgbClr val="FFFFFF"/>
                </a:solidFill>
                <a:latin typeface="Inter Medium" pitchFamily="34" charset="0"/>
                <a:ea typeface="Inter Medium" pitchFamily="34" charset="-122"/>
                <a:cs typeface="Inter Medium" pitchFamily="34" charset="-120"/>
              </a:rPr>
              <a:t>Mohammad Amaan</a:t>
            </a:r>
            <a:endParaRPr lang="en-US" sz="950" dirty="0"/>
          </a:p>
        </p:txBody>
      </p:sp>
      <p:sp>
        <p:nvSpPr>
          <p:cNvPr id="13" name="Text 9"/>
          <p:cNvSpPr/>
          <p:nvPr/>
        </p:nvSpPr>
        <p:spPr>
          <a:xfrm>
            <a:off x="5452467" y="2839641"/>
            <a:ext cx="1189434" cy="155377"/>
          </a:xfrm>
          <a:prstGeom prst="rect">
            <a:avLst/>
          </a:prstGeom>
          <a:noFill/>
          <a:ln/>
        </p:spPr>
        <p:txBody>
          <a:bodyPr wrap="none" lIns="0" tIns="0" rIns="0" bIns="0" rtlCol="0" anchor="t">
            <a:spAutoFit/>
          </a:bodyPr>
          <a:lstStyle/>
          <a:p>
            <a:pPr algn="ctr" indent="0" marL="0">
              <a:buNone/>
            </a:pPr>
            <a:r>
              <a:rPr lang="en-US" sz="950" dirty="0">
                <a:solidFill>
                  <a:srgbClr val="FFFFFF"/>
                </a:solidFill>
                <a:latin typeface="Inter Medium" pitchFamily="34" charset="0"/>
                <a:ea typeface="Inter Medium" pitchFamily="34" charset="-122"/>
                <a:cs typeface="Inter Medium" pitchFamily="34" charset="-120"/>
              </a:rPr>
              <a:t>Nandu Mehtre</a:t>
            </a:r>
            <a:endParaRPr lang="en-US" sz="950" dirty="0"/>
          </a:p>
        </p:txBody>
      </p:sp>
      <p:sp>
        <p:nvSpPr>
          <p:cNvPr id="14" name="Shape 10"/>
          <p:cNvSpPr/>
          <p:nvPr/>
        </p:nvSpPr>
        <p:spPr>
          <a:xfrm>
            <a:off x="2272605" y="3280767"/>
            <a:ext cx="300038" cy="300038"/>
          </a:xfrm>
          <a:prstGeom prst="rect">
            <a:avLst/>
          </a:prstGeom>
          <a:solidFill>
            <a:srgbClr val="FF5722">
              <a:alpha val="10000"/>
            </a:srgbClr>
          </a:solidFill>
          <a:ln w="9144">
            <a:solidFill>
              <a:srgbClr val="FF5722"/>
            </a:solidFill>
            <a:prstDash val="solid"/>
          </a:ln>
        </p:spPr>
      </p:sp>
      <p:pic>
        <p:nvPicPr>
          <p:cNvPr id="15" name="Image 1" descr="preencoded.png">    </p:cNvPr>
          <p:cNvPicPr>
            <a:picLocks noChangeAspect="1"/>
          </p:cNvPicPr>
          <p:nvPr/>
        </p:nvPicPr>
        <p:blipFill>
          <a:blip r:embed="rId2"/>
          <a:stretch>
            <a:fillRect/>
          </a:stretch>
        </p:blipFill>
        <p:spPr>
          <a:xfrm>
            <a:off x="2360116" y="3366492"/>
            <a:ext cx="125016" cy="128588"/>
          </a:xfrm>
          <a:prstGeom prst="rect">
            <a:avLst/>
          </a:prstGeom>
        </p:spPr>
      </p:pic>
      <p:sp>
        <p:nvSpPr>
          <p:cNvPr id="16" name="Text 11"/>
          <p:cNvSpPr/>
          <p:nvPr/>
        </p:nvSpPr>
        <p:spPr>
          <a:xfrm>
            <a:off x="2651224" y="3301305"/>
            <a:ext cx="2191345" cy="121444"/>
          </a:xfrm>
          <a:prstGeom prst="rect">
            <a:avLst/>
          </a:prstGeom>
          <a:noFill/>
          <a:ln/>
        </p:spPr>
        <p:txBody>
          <a:bodyPr wrap="square" lIns="0" tIns="0" rIns="0" bIns="0" rtlCol="0" anchor="t">
            <a:spAutoFit/>
          </a:bodyPr>
          <a:lstStyle/>
          <a:p>
            <a:pPr algn="l" indent="0" marL="0">
              <a:buNone/>
            </a:pPr>
            <a:r>
              <a:rPr lang="en-US" sz="700" b="1" dirty="0">
                <a:solidFill>
                  <a:srgbClr val="9CA3AF"/>
                </a:solidFill>
                <a:latin typeface="Inter ExtraBold" pitchFamily="34" charset="0"/>
                <a:ea typeface="Inter ExtraBold" pitchFamily="34" charset="-122"/>
                <a:cs typeface="Inter ExtraBold" pitchFamily="34" charset="-120"/>
              </a:rPr>
              <a:t>SOURCE CODE</a:t>
            </a:r>
            <a:endParaRPr lang="en-US" sz="700" dirty="0"/>
          </a:p>
        </p:txBody>
      </p:sp>
      <p:sp>
        <p:nvSpPr>
          <p:cNvPr id="17" name="Text 12"/>
          <p:cNvSpPr/>
          <p:nvPr/>
        </p:nvSpPr>
        <p:spPr>
          <a:xfrm>
            <a:off x="2651224" y="3422749"/>
            <a:ext cx="2191345" cy="137517"/>
          </a:xfrm>
          <a:prstGeom prst="rect">
            <a:avLst/>
          </a:prstGeom>
          <a:noFill/>
          <a:ln/>
        </p:spPr>
        <p:txBody>
          <a:bodyPr wrap="squar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github.com/OmAgr241/face-attendance</a:t>
            </a:r>
            <a:endParaRPr lang="en-US" sz="850" dirty="0"/>
          </a:p>
        </p:txBody>
      </p:sp>
      <p:sp>
        <p:nvSpPr>
          <p:cNvPr id="18" name="Shape 13"/>
          <p:cNvSpPr/>
          <p:nvPr/>
        </p:nvSpPr>
        <p:spPr>
          <a:xfrm>
            <a:off x="5199757" y="3280767"/>
            <a:ext cx="300038" cy="300038"/>
          </a:xfrm>
          <a:prstGeom prst="rect">
            <a:avLst/>
          </a:prstGeom>
          <a:solidFill>
            <a:srgbClr val="FF5722">
              <a:alpha val="10000"/>
            </a:srgbClr>
          </a:solidFill>
          <a:ln w="9144">
            <a:solidFill>
              <a:srgbClr val="FF5722"/>
            </a:solidFill>
            <a:prstDash val="solid"/>
          </a:ln>
        </p:spPr>
      </p:sp>
      <p:pic>
        <p:nvPicPr>
          <p:cNvPr id="19" name="Image 2" descr="preencoded.png">    </p:cNvPr>
          <p:cNvPicPr>
            <a:picLocks noChangeAspect="1"/>
          </p:cNvPicPr>
          <p:nvPr/>
        </p:nvPicPr>
        <p:blipFill>
          <a:blip r:embed="rId3"/>
          <a:stretch>
            <a:fillRect/>
          </a:stretch>
        </p:blipFill>
        <p:spPr>
          <a:xfrm>
            <a:off x="5285482" y="3359348"/>
            <a:ext cx="128588" cy="128588"/>
          </a:xfrm>
          <a:prstGeom prst="rect">
            <a:avLst/>
          </a:prstGeom>
        </p:spPr>
      </p:pic>
      <p:sp>
        <p:nvSpPr>
          <p:cNvPr id="20" name="Text 14"/>
          <p:cNvSpPr/>
          <p:nvPr/>
        </p:nvSpPr>
        <p:spPr>
          <a:xfrm>
            <a:off x="5578376" y="3294162"/>
            <a:ext cx="1278731" cy="121444"/>
          </a:xfrm>
          <a:prstGeom prst="rect">
            <a:avLst/>
          </a:prstGeom>
          <a:noFill/>
          <a:ln/>
        </p:spPr>
        <p:txBody>
          <a:bodyPr wrap="none" lIns="0" tIns="0" rIns="0" bIns="0" rtlCol="0" anchor="t">
            <a:spAutoFit/>
          </a:bodyPr>
          <a:lstStyle/>
          <a:p>
            <a:pPr algn="l" indent="0" marL="0">
              <a:buNone/>
            </a:pPr>
            <a:r>
              <a:rPr lang="en-US" sz="700" b="1" dirty="0">
                <a:solidFill>
                  <a:srgbClr val="9CA3AF"/>
                </a:solidFill>
                <a:latin typeface="Inter ExtraBold" pitchFamily="34" charset="0"/>
                <a:ea typeface="Inter ExtraBold" pitchFamily="34" charset="-122"/>
                <a:cs typeface="Inter ExtraBold" pitchFamily="34" charset="-120"/>
              </a:rPr>
              <a:t>CONTACT</a:t>
            </a:r>
            <a:endParaRPr lang="en-US" sz="700" dirty="0"/>
          </a:p>
        </p:txBody>
      </p:sp>
      <p:sp>
        <p:nvSpPr>
          <p:cNvPr id="21" name="Text 15"/>
          <p:cNvSpPr/>
          <p:nvPr/>
        </p:nvSpPr>
        <p:spPr>
          <a:xfrm>
            <a:off x="5578376" y="3415605"/>
            <a:ext cx="1278731" cy="137517"/>
          </a:xfrm>
          <a:prstGeom prst="rect">
            <a:avLst/>
          </a:prstGeom>
          <a:noFill/>
          <a:ln/>
        </p:spPr>
        <p:txBody>
          <a:bodyPr wrap="none" lIns="0" tIns="0" rIns="0" bIns="0" rtlCol="0" anchor="t">
            <a:spAutoFit/>
          </a:bodyPr>
          <a:lstStyle/>
          <a:p>
            <a:pPr algn="l" indent="0" marL="0">
              <a:buNone/>
            </a:pPr>
            <a:r>
              <a:rPr lang="en-US" sz="850" dirty="0">
                <a:solidFill>
                  <a:srgbClr val="FFFFFF"/>
                </a:solidFill>
                <a:latin typeface="Inter Medium" pitchFamily="34" charset="0"/>
                <a:ea typeface="Inter Medium" pitchFamily="34" charset="-122"/>
                <a:cs typeface="Inter Medium" pitchFamily="34" charset="-120"/>
              </a:rPr>
              <a:t>oma09406@gmail.com</a:t>
            </a:r>
            <a:endParaRPr lang="en-US" sz="850" dirty="0"/>
          </a:p>
        </p:txBody>
      </p:sp>
      <p:sp>
        <p:nvSpPr>
          <p:cNvPr id="22" name="Text 16"/>
          <p:cNvSpPr/>
          <p:nvPr/>
        </p:nvSpPr>
        <p:spPr>
          <a:xfrm>
            <a:off x="3362920" y="3852267"/>
            <a:ext cx="2418159" cy="121444"/>
          </a:xfrm>
          <a:prstGeom prst="rect">
            <a:avLst/>
          </a:prstGeom>
          <a:noFill/>
          <a:ln/>
        </p:spPr>
        <p:txBody>
          <a:bodyPr wrap="square" lIns="0" tIns="0" rIns="0" bIns="0" rtlCol="0" anchor="t">
            <a:spAutoFit/>
          </a:bodyPr>
          <a:lstStyle/>
          <a:p>
            <a:pPr algn="ctr" indent="0" marL="0">
              <a:buNone/>
            </a:pPr>
            <a:r>
              <a:rPr lang="en-US" sz="700" b="1" spc="3" kern="0" dirty="0">
                <a:solidFill>
                  <a:srgbClr val="4B5563"/>
                </a:solidFill>
                <a:latin typeface="Inter ExtraBold" pitchFamily="34" charset="0"/>
                <a:ea typeface="Inter ExtraBold" pitchFamily="34" charset="-122"/>
                <a:cs typeface="Inter ExtraBold" pitchFamily="34" charset="-120"/>
              </a:rPr>
              <a:t>REACT • FLASK • OPENCV • DLIB</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2026-05-26T10:15:32Z</dcterms:created>
  <dcterms:modified xsi:type="dcterms:W3CDTF">2026-05-26T10:15:32Z</dcterms:modified>
</cp:coreProperties>
</file>